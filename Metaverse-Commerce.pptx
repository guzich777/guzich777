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COVER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001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640080"/>
            <a:ext cx="7680960" cy="585216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" y="640080"/>
            <a:ext cx="7680960" cy="585216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4161B"/>
              </a:gs>
              <a:gs pos="100000">
                <a:srgbClr val="0F141E"/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960120"/>
            <a:ext cx="68580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AN INDUSTRY REPORT · 2026 EDITION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554480"/>
            <a:ext cx="6858000" cy="2743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000" b="0" i="1">
                <a:solidFill>
                  <a:srgbClr val="FFFFFF"/>
                </a:solidFill>
                <a:latin typeface="Cormorant Garamond"/>
              </a:rPr>
              <a:t>Metaverse</a:t>
            </a:r>
          </a:p>
          <a:p>
            <a:pPr algn="l">
              <a:lnSpc>
                <a:spcPct val="95000"/>
              </a:lnSpc>
            </a:pPr>
            <a:r>
              <a:rPr sz="11000" b="0" i="1">
                <a:solidFill>
                  <a:srgbClr val="FFFFFF"/>
                </a:solidFill>
                <a:latin typeface="Cormorant Garamond"/>
              </a:rPr>
              <a:t>Commerce.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572000"/>
            <a:ext cx="685800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i="0">
                <a:solidFill>
                  <a:srgbClr val="8B909C"/>
                </a:solidFill>
                <a:latin typeface="Space Grotesk"/>
              </a:rPr>
              <a:t>The new geography of selling.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68680" y="5486400"/>
            <a:ext cx="6857999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68680" y="5623560"/>
            <a:ext cx="3200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AUTHORS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852160"/>
            <a:ext cx="3200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Space Grotesk"/>
              </a:rPr>
              <a:t>V·Commerce Research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5623560"/>
            <a:ext cx="3200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ИЗДАНИЕ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852160"/>
            <a:ext cx="3200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FFFF"/>
                </a:solidFill>
                <a:latin typeface="Space Grotesk"/>
              </a:rPr>
              <a:t>Май ·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640080"/>
            <a:ext cx="3410712" cy="182880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10141E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95360" y="868680"/>
            <a:ext cx="3017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01 · ОСНОВНОЕ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1325880"/>
            <a:ext cx="301752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0" i="1">
                <a:solidFill>
                  <a:srgbClr val="FFFFFF"/>
                </a:solidFill>
                <a:latin typeface="Cormorant Garamond"/>
              </a:rPr>
              <a:t>D2A · Phygital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2103120"/>
            <a:ext cx="3017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8B909C"/>
                </a:solidFill>
                <a:latin typeface="Space Grotesk"/>
              </a:rPr>
              <a:t>Две модели · Один рынок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40" y="2606040"/>
            <a:ext cx="3410712" cy="182880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95360" y="2788920"/>
            <a:ext cx="3017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02 · ВОВЛЕЧЁННОСТЬ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3154680"/>
            <a:ext cx="3017520" cy="10972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400" b="0" i="0">
                <a:solidFill>
                  <a:srgbClr val="FFFFFF"/>
                </a:solidFill>
                <a:latin typeface="Space Grotesk"/>
              </a:rPr>
              <a:t>20–40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95360" y="4069080"/>
            <a:ext cx="3017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МИНУТ В МЕТАВСЕЛЕННОЙ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4572000"/>
            <a:ext cx="3410712" cy="19202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261B3D"/>
              </a:gs>
              <a:gs pos="100000">
                <a:srgbClr val="10101C"/>
              </a:gs>
            </a:gsLst>
            <a:lin ang="8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4754880"/>
            <a:ext cx="3017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03 · КЕЙСЫ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5166360"/>
            <a:ext cx="3017520" cy="12801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FFFFFF"/>
                </a:solidFill>
                <a:latin typeface="Space Grotesk"/>
              </a:rPr>
              <a:t>Gucci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FFFFFF"/>
                </a:solidFill>
                <a:latin typeface="Space Grotesk"/>
              </a:rPr>
              <a:t>Nike</a:t>
            </a:r>
          </a:p>
          <a:p>
            <a:pPr algn="l">
              <a:lnSpc>
                <a:spcPct val="140000"/>
              </a:lnSpc>
            </a:pPr>
            <a:r>
              <a:rPr sz="1500" b="0" i="0">
                <a:solidFill>
                  <a:srgbClr val="FFFFFF"/>
                </a:solidFill>
                <a:latin typeface="Space Grotesk"/>
              </a:rPr>
              <a:t>Hyundai · BMW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TABLE OF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002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640080"/>
            <a:ext cx="4114800" cy="585216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868680"/>
            <a:ext cx="34747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1280160"/>
            <a:ext cx="3474720" cy="2560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0" i="1">
                <a:solidFill>
                  <a:srgbClr val="FFFFFF"/>
                </a:solidFill>
                <a:latin typeface="Cormorant Garamond"/>
              </a:rPr>
              <a:t>Содержание</a:t>
            </a:r>
          </a:p>
          <a:p>
            <a:pPr algn="l">
              <a:lnSpc>
                <a:spcPct val="100000"/>
              </a:lnSpc>
            </a:pPr>
            <a:r>
              <a:rPr sz="4400" b="0" i="1">
                <a:solidFill>
                  <a:srgbClr val="FFFFFF"/>
                </a:solidFill>
                <a:latin typeface="Cormorant Garamond"/>
              </a:rPr>
              <a:t>доклада.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7240" y="3840480"/>
            <a:ext cx="347472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77240" y="3977639"/>
            <a:ext cx="3474720" cy="2286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Доклад охватывает смену парадигмы ритейла, кризис 2022 года и сильнейшие коммерческие кейсы внутри живых метавселенных.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640080"/>
            <a:ext cx="6949440" cy="105156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20640" y="868680"/>
            <a:ext cx="54864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C9A66B"/>
                </a:solidFill>
                <a:latin typeface="Space Grotesk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896112"/>
            <a:ext cx="41148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300">
                <a:solidFill>
                  <a:srgbClr val="FFFFFF"/>
                </a:solidFill>
                <a:latin typeface="Space Grotesk"/>
              </a:rPr>
              <a:t>СМЕНА ПАРАДИГМЫ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1234440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От 2D-каталога к v-commerce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0" y="1051560"/>
            <a:ext cx="1280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 spc="200">
                <a:solidFill>
                  <a:srgbClr val="5A606B"/>
                </a:solidFill>
                <a:latin typeface="Space Grotesk"/>
              </a:rPr>
              <a:t>стр. 03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0" y="1737360"/>
            <a:ext cx="6949440" cy="105156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20640" y="1965960"/>
            <a:ext cx="54864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C9A66B"/>
                </a:solidFill>
                <a:latin typeface="Space Grotesk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1993392"/>
            <a:ext cx="41148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300">
                <a:solidFill>
                  <a:srgbClr val="FFFFFF"/>
                </a:solidFill>
                <a:latin typeface="Space Grotesk"/>
              </a:rPr>
              <a:t>РЕАЛИТИ-ЧЕК META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2331720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Урок 2022 года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148840"/>
            <a:ext cx="1280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 spc="200">
                <a:solidFill>
                  <a:srgbClr val="5A606B"/>
                </a:solidFill>
                <a:latin typeface="Space Grotesk"/>
              </a:rPr>
              <a:t>стр. 06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54880" y="2834640"/>
            <a:ext cx="6949440" cy="105156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3063240"/>
            <a:ext cx="54864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C9A66B"/>
                </a:solidFill>
                <a:latin typeface="Space Grotesk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090672"/>
            <a:ext cx="41148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300">
                <a:solidFill>
                  <a:srgbClr val="FFFFFF"/>
                </a:solidFill>
                <a:latin typeface="Space Grotesk"/>
              </a:rPr>
              <a:t>GUCCI · NIKE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3429000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Кейсы фэшн-индустрии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3246120"/>
            <a:ext cx="1280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 spc="200">
                <a:solidFill>
                  <a:srgbClr val="5A606B"/>
                </a:solidFill>
                <a:latin typeface="Space Grotesk"/>
              </a:rPr>
              <a:t>стр. 08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80" y="3931920"/>
            <a:ext cx="6949440" cy="105156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20640" y="4160520"/>
            <a:ext cx="54864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C9A66B"/>
                </a:solidFill>
                <a:latin typeface="Space Grotesk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26480" y="4187952"/>
            <a:ext cx="41148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300">
                <a:solidFill>
                  <a:srgbClr val="FFFFFF"/>
                </a:solidFill>
                <a:latin typeface="Space Grotesk"/>
              </a:rPr>
              <a:t>АВТОПРОМ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526280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Hyundai, BMW · виртуальные шоурумы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0" y="4343400"/>
            <a:ext cx="1280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 spc="200">
                <a:solidFill>
                  <a:srgbClr val="5A606B"/>
                </a:solidFill>
                <a:latin typeface="Space Grotesk"/>
              </a:rPr>
              <a:t>стр. 11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5029200"/>
            <a:ext cx="6949440" cy="105156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120640" y="5257800"/>
            <a:ext cx="54864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0" i="0">
                <a:solidFill>
                  <a:srgbClr val="C9A66B"/>
                </a:solidFill>
                <a:latin typeface="Space Grotesk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26480" y="5285232"/>
            <a:ext cx="41148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300">
                <a:solidFill>
                  <a:srgbClr val="FFFFFF"/>
                </a:solidFill>
                <a:latin typeface="Space Grotesk"/>
              </a:rPr>
              <a:t>БИЗНЕС-ЭФФЕКТЫ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26480" y="5623560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Метрики и выводы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41280" y="5440680"/>
            <a:ext cx="12801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 spc="200">
                <a:solidFill>
                  <a:srgbClr val="5A606B"/>
                </a:solidFill>
                <a:latin typeface="Space Grotesk"/>
              </a:rPr>
              <a:t>стр. 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01 · СМЕНА ПАРАДИГМЫ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003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77724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0" i="1">
                <a:solidFill>
                  <a:srgbClr val="FFFFFF"/>
                </a:solidFill>
                <a:latin typeface="Cormorant Garamond"/>
              </a:rPr>
              <a:t>От плоского скролла —</a:t>
            </a:r>
          </a:p>
          <a:p>
            <a:pPr algn="l">
              <a:lnSpc>
                <a:spcPct val="100000"/>
              </a:lnSpc>
            </a:pPr>
            <a:r>
              <a:rPr sz="5200" b="0" i="1">
                <a:solidFill>
                  <a:srgbClr val="FFFFFF"/>
                </a:solidFill>
                <a:latin typeface="Cormorant Garamond"/>
              </a:rPr>
              <a:t>к трёхмерному опыту.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777240"/>
            <a:ext cx="3044952" cy="20116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960120"/>
            <a:ext cx="25603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TL;DR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280160"/>
            <a:ext cx="2651760" cy="1463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E2E5EA"/>
                </a:solidFill>
                <a:latin typeface="Inter"/>
              </a:rPr>
              <a:t>V-commerce — не «новый канал», а </a:t>
            </a:r>
            <a:r>
              <a:rPr sz="1200" b="1" i="0">
                <a:solidFill>
                  <a:srgbClr val="FFFFFF"/>
                </a:solidFill>
                <a:latin typeface="Inter"/>
              </a:rPr>
              <a:t>новый клиентский опыт</a:t>
            </a:r>
            <a:r>
              <a:rPr sz="1200" b="0" i="0">
                <a:solidFill>
                  <a:srgbClr val="E2E5EA"/>
                </a:solidFill>
                <a:latin typeface="Inter"/>
              </a:rPr>
              <a:t> в трёхмерной среде.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108960"/>
            <a:ext cx="5577840" cy="338328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6181D"/>
              </a:gs>
              <a:gs pos="100000">
                <a:srgbClr val="1C1F26"/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291840"/>
            <a:ext cx="5029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6B7280"/>
                </a:solidFill>
                <a:latin typeface="Space Grotesk"/>
              </a:rPr>
              <a:t>ВЧЕРА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657600"/>
            <a:ext cx="50292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 spc="200">
                <a:solidFill>
                  <a:srgbClr val="8B909C"/>
                </a:solidFill>
                <a:latin typeface="Space Grotesk"/>
              </a:rPr>
              <a:t>2D · E-COMMERCE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4526280"/>
            <a:ext cx="960120" cy="6400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77240" y="5257800"/>
            <a:ext cx="960120" cy="6400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874520" y="4526280"/>
            <a:ext cx="960120" cy="6400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874520" y="5257800"/>
            <a:ext cx="960120" cy="6400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971800" y="4526280"/>
            <a:ext cx="960120" cy="6400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971800" y="5257800"/>
            <a:ext cx="960120" cy="6400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989320"/>
            <a:ext cx="50292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6B7280"/>
                </a:solidFill>
                <a:latin typeface="Inter"/>
              </a:rPr>
              <a:t>Бесконечный скроллинг плоских карточек товара.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3108960"/>
            <a:ext cx="5577840" cy="338328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0F1622"/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3291840"/>
            <a:ext cx="5029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СЕГОДНЯ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657600"/>
            <a:ext cx="50292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 i="0" spc="200">
                <a:solidFill>
                  <a:srgbClr val="FFFFFF"/>
                </a:solidFill>
                <a:latin typeface="Space Grotesk"/>
              </a:rPr>
              <a:t>3D · V-COMMERCE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4526280"/>
            <a:ext cx="5029200" cy="11887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800" b="0" i="0">
                <a:solidFill>
                  <a:srgbClr val="6AA9FF"/>
                </a:solidFill>
                <a:latin typeface="Space Grotesk"/>
              </a:rPr>
              <a:t>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5989320"/>
            <a:ext cx="50292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E2E5EA"/>
                </a:solidFill>
                <a:latin typeface="Inter"/>
              </a:rPr>
              <a:t>Трёхмерное цифровое пространство клиентского опыта.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02 · ДВЕ МОДЕЛИ ПРОДАЖ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004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9144000" cy="1463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 i="1">
                <a:solidFill>
                  <a:srgbClr val="FFFFFF"/>
                </a:solidFill>
                <a:latin typeface="Cormorant Garamond"/>
              </a:rPr>
              <a:t>Две экономики</a:t>
            </a:r>
          </a:p>
          <a:p>
            <a:pPr algn="l">
              <a:lnSpc>
                <a:spcPct val="100000"/>
              </a:lnSpc>
            </a:pPr>
            <a:r>
              <a:rPr sz="4600" b="0" i="1">
                <a:solidFill>
                  <a:srgbClr val="FFFFFF"/>
                </a:solidFill>
                <a:latin typeface="Cormorant Garamond"/>
              </a:rPr>
              <a:t>одной метавселенной.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91840"/>
            <a:ext cx="5577840" cy="320040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0E131D"/>
              </a:gs>
            </a:gsLst>
            <a:lin ang="8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49377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МОДЕЛЬ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40480"/>
            <a:ext cx="493776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800" b="0" i="1">
                <a:solidFill>
                  <a:srgbClr val="FFFFFF"/>
                </a:solidFill>
                <a:latin typeface="Cormorant Garamond"/>
              </a:rPr>
              <a:t>D2A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37760"/>
            <a:ext cx="493776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B909C"/>
                </a:solidFill>
                <a:latin typeface="Space Grotesk"/>
              </a:rPr>
              <a:t>Direct-to-Avatar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5394960"/>
            <a:ext cx="498348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5532120"/>
            <a:ext cx="493776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2E5EA"/>
                </a:solidFill>
                <a:latin typeface="Inter"/>
              </a:rPr>
              <a:t>Прямые продажи цифровых товаров — одежда, аксессуары, недвижимость, </a:t>
            </a:r>
            <a:r>
              <a:rPr sz="1100" b="1" i="0">
                <a:solidFill>
                  <a:srgbClr val="FFFFFF"/>
                </a:solidFill>
                <a:latin typeface="Inter"/>
              </a:rPr>
              <a:t>существующие только внутри виртуального мира.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3912" y="3291840"/>
            <a:ext cx="5577840" cy="320040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261B3D"/>
              </a:gs>
              <a:gs pos="100000">
                <a:srgbClr val="12101C"/>
              </a:gs>
            </a:gsLst>
            <a:lin ang="8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520440"/>
            <a:ext cx="49377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МОДЕЛЬ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840480"/>
            <a:ext cx="493776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6800" b="0" i="1">
                <a:solidFill>
                  <a:srgbClr val="FFFFFF"/>
                </a:solidFill>
                <a:latin typeface="Cormorant Garamond"/>
              </a:rPr>
              <a:t>Phygital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937760"/>
            <a:ext cx="493776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8B909C"/>
                </a:solidFill>
                <a:latin typeface="Space Grotesk"/>
              </a:rPr>
              <a:t>Physical + Digital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46520" y="5394960"/>
            <a:ext cx="498348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46520" y="5532120"/>
            <a:ext cx="493776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E2E5EA"/>
                </a:solidFill>
                <a:latin typeface="Inter"/>
              </a:rPr>
              <a:t>Реальный физический товар, заказанный через </a:t>
            </a:r>
            <a:r>
              <a:rPr sz="1100" b="1" i="0">
                <a:solidFill>
                  <a:srgbClr val="FFFFFF"/>
                </a:solidFill>
                <a:latin typeface="Inter"/>
              </a:rPr>
              <a:t>трёхмерный интерактивный опыт</a:t>
            </a:r>
            <a:r>
              <a:rPr sz="1100" b="0" i="0">
                <a:solidFill>
                  <a:srgbClr val="E2E5EA"/>
                </a:solidFill>
                <a:latin typeface="Inter"/>
              </a:rPr>
              <a:t> с доставкой на дом.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03 · АУДИТОРИЯ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005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463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FFFFFF"/>
                </a:solidFill>
                <a:latin typeface="Cormorant Garamond"/>
              </a:rPr>
              <a:t>Поколения, для которых</a:t>
            </a:r>
          </a:p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FFFFFF"/>
                </a:solidFill>
                <a:latin typeface="Cormorant Garamond"/>
              </a:rPr>
              <a:t>виртуальное равно реальному.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338328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0F141F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2743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GENERATION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840480"/>
            <a:ext cx="2743200" cy="2286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0" i="1">
                <a:solidFill>
                  <a:srgbClr val="FFFFFF"/>
                </a:solidFill>
                <a:latin typeface="Cormorant Garamond"/>
              </a:rPr>
              <a:t>Z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31920" y="3200400"/>
            <a:ext cx="338328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261B3D"/>
              </a:gs>
              <a:gs pos="100000">
                <a:srgbClr val="10101C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51960" y="3383280"/>
            <a:ext cx="2743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GENERATION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840480"/>
            <a:ext cx="2743200" cy="2286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0" b="0" i="1">
                <a:solidFill>
                  <a:srgbClr val="FFFFFF"/>
                </a:solidFill>
                <a:latin typeface="Cormorant Garamond"/>
              </a:rPr>
              <a:t>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200400"/>
            <a:ext cx="4325112" cy="15544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0" y="3383280"/>
            <a:ext cx="38404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ВРЕМЯ В ВИРТУАЛЬНЫХ МИРАХ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0" y="3703320"/>
            <a:ext cx="3840480" cy="10972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>
                <a:solidFill>
                  <a:srgbClr val="C9A66B"/>
                </a:solidFill>
                <a:latin typeface="Space Grotesk"/>
              </a:rPr>
              <a:t>&gt;</a:t>
            </a:r>
            <a:r>
              <a:rPr sz="1600" b="0" i="0">
                <a:solidFill>
                  <a:srgbClr val="FFFFFF"/>
                </a:solidFill>
                <a:latin typeface="Space Grotesk"/>
              </a:rPr>
              <a:t> в торговых центрах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297680"/>
            <a:ext cx="384048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8B909C"/>
                </a:solidFill>
                <a:latin typeface="Inter"/>
              </a:rPr>
              <a:t>Их аватар = их идентичность.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4937760"/>
            <a:ext cx="4325112" cy="155448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0" y="5120640"/>
            <a:ext cx="38404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ДЛЯ БИЗНЕСА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5440680"/>
            <a:ext cx="3840480" cy="10058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1" i="0">
                <a:solidFill>
                  <a:srgbClr val="FFFFFF"/>
                </a:solidFill>
                <a:latin typeface="Space Grotesk"/>
              </a:rPr>
              <a:t>Не игрушка. </a:t>
            </a:r>
            <a:r>
              <a:rPr sz="1100" b="0" i="0">
                <a:solidFill>
                  <a:srgbClr val="E2E5EA"/>
                </a:solidFill>
                <a:latin typeface="Inter"/>
              </a:rPr>
              <a:t>Способ присутствия там, где живёт следующее поколение покупателей.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04 · РЕАЛИТИ-ЧЕК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006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0584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FFFFFF"/>
                </a:solidFill>
                <a:latin typeface="Cormorant Garamond"/>
              </a:rPr>
              <a:t>Прежде чем говорить об успехе —</a:t>
            </a:r>
          </a:p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FFFFFF"/>
                </a:solidFill>
                <a:latin typeface="Cormorant Garamond"/>
              </a:rPr>
              <a:t>поговорим о провале.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6400800" cy="301752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45720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 i="0">
                <a:solidFill>
                  <a:srgbClr val="C9A66B"/>
                </a:solidFill>
                <a:latin typeface="Cormorant Garamond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023360"/>
            <a:ext cx="475488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0" i="1">
                <a:solidFill>
                  <a:srgbClr val="FFFFFF"/>
                </a:solidFill>
                <a:latin typeface="Cormorant Garamond"/>
              </a:rPr>
              <a:t>Концепция метавселенных</a:t>
            </a:r>
          </a:p>
          <a:p>
            <a:pPr algn="l">
              <a:lnSpc>
                <a:spcPct val="110000"/>
              </a:lnSpc>
            </a:pPr>
            <a:r>
              <a:rPr sz="3000" b="0" i="1">
                <a:solidFill>
                  <a:srgbClr val="FFFFFF"/>
                </a:solidFill>
                <a:latin typeface="Cormorant Garamond"/>
              </a:rPr>
              <a:t>мертва.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63040" y="5760720"/>
            <a:ext cx="502920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463040" y="5897880"/>
            <a:ext cx="47548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АНАЛИТИКИ · 2022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49440" y="3474720"/>
            <a:ext cx="4782312" cy="96012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3639312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400">
                <a:solidFill>
                  <a:srgbClr val="C9A66B"/>
                </a:solidFill>
                <a:latin typeface="Space Grotesk"/>
              </a:rPr>
              <a:t>2021–22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3977640"/>
            <a:ext cx="41148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FFFFFF"/>
                </a:solidFill>
                <a:latin typeface="Space Grotesk"/>
              </a:rPr>
              <a:t>Огромный пузырь хайпа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49440" y="4507991"/>
            <a:ext cx="4782312" cy="96012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0" y="4672583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400">
                <a:solidFill>
                  <a:srgbClr val="C9A66B"/>
                </a:solidFill>
                <a:latin typeface="Space Grotesk"/>
              </a:rPr>
              <a:t>META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5010911"/>
            <a:ext cx="41148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FFFFFF"/>
                </a:solidFill>
                <a:latin typeface="Space Grotesk"/>
              </a:rPr>
              <a:t>Главное лицо: Марк Цукерберг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49440" y="5541262"/>
            <a:ext cx="4782312" cy="96012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0" y="5705854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400">
                <a:solidFill>
                  <a:srgbClr val="C9A66B"/>
                </a:solidFill>
                <a:latin typeface="Space Grotesk"/>
              </a:rPr>
              <a:t>Q4 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6044182"/>
            <a:ext cx="41148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FFFFFF"/>
                </a:solidFill>
                <a:latin typeface="Space Grotesk"/>
              </a:rPr>
              <a:t>Жёсткое падение акций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05 · КЕЙС ПРОВАЛА META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007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6B7280"/>
                </a:solidFill>
                <a:latin typeface="Space Grotesk"/>
              </a:rPr>
              <a:t>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0584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8B909C"/>
                </a:solidFill>
                <a:latin typeface="Cormorant Garamond"/>
              </a:rPr>
              <a:t>Horizon Worlds.</a:t>
            </a:r>
          </a:p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8B909C"/>
                </a:solidFill>
                <a:latin typeface="Cormorant Garamond"/>
              </a:rPr>
              <a:t>Урок на десятки миллиардов.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566928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6181D"/>
              </a:gs>
              <a:gs pos="100000">
                <a:srgbClr val="0B0D12"/>
              </a:gs>
            </a:gsLst>
            <a:lin ang="102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50292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6B7280"/>
                </a:solidFill>
                <a:latin typeface="Space Grotesk"/>
              </a:rPr>
              <a:t>STATUS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502920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 i="0" spc="400">
                <a:solidFill>
                  <a:srgbClr val="6B7280"/>
                </a:solidFill>
                <a:latin typeface="Space Grotesk"/>
              </a:rPr>
              <a:t>ПУСТОТА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937760"/>
            <a:ext cx="502920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 i="0" spc="2000">
                <a:solidFill>
                  <a:srgbClr val="5A606B"/>
                </a:solidFill>
                <a:latin typeface="Space Grotesk"/>
              </a:rPr>
              <a:t>·     ·     ·     ·     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852160"/>
            <a:ext cx="50292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1">
                <a:solidFill>
                  <a:srgbClr val="6B7280"/>
                </a:solidFill>
                <a:latin typeface="Inter"/>
              </a:rPr>
              <a:t>Пустые виртуальные миры, слабая графика, смех в интернете.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5352" y="3200400"/>
            <a:ext cx="5486400" cy="100584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3383280"/>
            <a:ext cx="54864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606B"/>
                </a:solidFill>
                <a:latin typeface="Space Grotesk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3401568"/>
            <a:ext cx="41148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400">
                <a:solidFill>
                  <a:srgbClr val="6B7280"/>
                </a:solidFill>
                <a:latin typeface="Space Grotesk"/>
              </a:rPr>
              <a:t>RENAMING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2632" y="3703320"/>
            <a:ext cx="411480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7280"/>
                </a:solidFill>
                <a:latin typeface="Inter"/>
              </a:rPr>
              <a:t>Facebook переименовала компанию в Meta и направила десятки миллиардов долларов в собственную метавселенную.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45352" y="4297680"/>
            <a:ext cx="5486400" cy="100584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65392" y="4480560"/>
            <a:ext cx="54864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606B"/>
                </a:solidFill>
                <a:latin typeface="Space Grotesk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42632" y="4498848"/>
            <a:ext cx="41148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400">
                <a:solidFill>
                  <a:srgbClr val="6B7280"/>
                </a:solidFill>
                <a:latin typeface="Space Grotesk"/>
              </a:rPr>
              <a:t>РЕЗУЛЬТАТ 2022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42632" y="4800600"/>
            <a:ext cx="411480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7280"/>
                </a:solidFill>
                <a:latin typeface="Inter"/>
              </a:rPr>
              <a:t>Скрин-шоты Horizon Worlds стали мемами. Низкое качество графики, низкая посещаемость, низкое удержание.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45352" y="5394960"/>
            <a:ext cx="5486400" cy="100584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5577840"/>
            <a:ext cx="54864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606B"/>
                </a:solidFill>
                <a:latin typeface="Space Grotesk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2" y="5596128"/>
            <a:ext cx="41148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400">
                <a:solidFill>
                  <a:srgbClr val="6B7280"/>
                </a:solidFill>
                <a:latin typeface="Space Grotesk"/>
              </a:rPr>
              <a:t>ФИНАНСЫ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42632" y="5897880"/>
            <a:ext cx="411480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6B7280"/>
                </a:solidFill>
                <a:latin typeface="Inter"/>
              </a:rPr>
              <a:t>Гигантские убытки Reality Labs. Падение акций. Аналитики объявили концепцию мертвой.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06 · ГЛАВНЫЙ УРОК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008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1">
                <a:solidFill>
                  <a:srgbClr val="FFFFFF"/>
                </a:solidFill>
                <a:latin typeface="Cormorant Garamond"/>
              </a:rPr>
              <a:t>Нельзя навязать пользователям</a:t>
            </a:r>
          </a:p>
          <a:p>
            <a:pPr algn="l">
              <a:lnSpc>
                <a:spcPct val="100000"/>
              </a:lnSpc>
            </a:pPr>
            <a:r>
              <a:rPr sz="3800" b="0" i="1">
                <a:solidFill>
                  <a:srgbClr val="FFFFFF"/>
                </a:solidFill>
                <a:latin typeface="Cormorant Garamond"/>
              </a:rPr>
              <a:t>пустой мир «сверху».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5577840" cy="329184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49377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6B7280"/>
                </a:solidFill>
                <a:latin typeface="Space Grotesk"/>
              </a:rPr>
              <a:t>ПУТЬ META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49039"/>
            <a:ext cx="493776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0" i="1">
                <a:solidFill>
                  <a:srgbClr val="8B909C"/>
                </a:solidFill>
                <a:latin typeface="Cormorant Garamond"/>
              </a:rPr>
              <a:t>Построить</a:t>
            </a:r>
          </a:p>
          <a:p>
            <a:pPr algn="l">
              <a:lnSpc>
                <a:spcPct val="100000"/>
              </a:lnSpc>
            </a:pPr>
            <a:r>
              <a:rPr sz="3400" b="0" i="1">
                <a:solidFill>
                  <a:srgbClr val="8B909C"/>
                </a:solidFill>
                <a:latin typeface="Cormorant Garamond"/>
              </a:rPr>
              <a:t>мир с нуля.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49240"/>
            <a:ext cx="4937760" cy="10972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6B7280"/>
                </a:solidFill>
                <a:latin typeface="Inter"/>
              </a:rPr>
              <a:t>Создать пустую платформу сверху и надеяться, что пользователи придут. Они не пришли.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126480"/>
            <a:ext cx="731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400">
                <a:solidFill>
                  <a:srgbClr val="6B7280"/>
                </a:solidFill>
                <a:latin typeface="Space Grotesk"/>
              </a:rPr>
              <a:t>↓ ИТОГ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3912" y="3200400"/>
            <a:ext cx="557784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0F141E"/>
              </a:gs>
            </a:gsLst>
            <a:lin ang="8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3429000"/>
            <a:ext cx="49377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ПУТЬ БРЕНДОВ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749039"/>
            <a:ext cx="493776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1">
                <a:solidFill>
                  <a:srgbClr val="FFFFFF"/>
                </a:solidFill>
                <a:latin typeface="Cormorant Garamond"/>
              </a:rPr>
              <a:t>Прийти туда,</a:t>
            </a:r>
          </a:p>
          <a:p>
            <a:pPr algn="l">
              <a:lnSpc>
                <a:spcPct val="100000"/>
              </a:lnSpc>
            </a:pPr>
            <a:r>
              <a:rPr sz="3000" b="0" i="1">
                <a:solidFill>
                  <a:srgbClr val="FFFFFF"/>
                </a:solidFill>
                <a:latin typeface="Cormorant Garamond"/>
              </a:rPr>
              <a:t>где уже есть</a:t>
            </a:r>
          </a:p>
          <a:p>
            <a:pPr algn="l">
              <a:lnSpc>
                <a:spcPct val="100000"/>
              </a:lnSpc>
            </a:pPr>
            <a:r>
              <a:rPr sz="3000" b="0" i="1">
                <a:solidFill>
                  <a:srgbClr val="FFFFFF"/>
                </a:solidFill>
                <a:latin typeface="Cormorant Garamond"/>
              </a:rPr>
              <a:t>аудитория.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5989320"/>
            <a:ext cx="146304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300">
                <a:solidFill>
                  <a:srgbClr val="FFFFFF"/>
                </a:solidFill>
                <a:latin typeface="Space Grotesk"/>
              </a:rPr>
              <a:t>ROBLOX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5989320"/>
            <a:ext cx="146304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300">
                <a:solidFill>
                  <a:srgbClr val="FFFFFF"/>
                </a:solidFill>
                <a:latin typeface="Space Grotesk"/>
              </a:rPr>
              <a:t>FORTNITE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5989320"/>
            <a:ext cx="146304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300">
                <a:solidFill>
                  <a:srgbClr val="FFFFFF"/>
                </a:solidFill>
                <a:latin typeface="Space Grotesk"/>
              </a:rPr>
              <a:t>SANDBOX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5669280"/>
            <a:ext cx="493776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400">
                <a:solidFill>
                  <a:srgbClr val="C9A66B"/>
                </a:solidFill>
                <a:latin typeface="Space Grotesk"/>
              </a:rPr>
              <a:t>↑ КУДА ИДУТ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07 · КЕЙС GUCCI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009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FFFFFF"/>
                </a:solidFill>
                <a:latin typeface="Cormorant Garamond"/>
              </a:rPr>
              <a:t>Gucci Town.</a:t>
            </a:r>
          </a:p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FFFFFF"/>
                </a:solidFill>
                <a:latin typeface="Cormorant Garamond"/>
              </a:rPr>
              <a:t>Когда пиксели стоят дороже кожи.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411480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3D2155"/>
              </a:gs>
              <a:gs pos="100000">
                <a:srgbClr val="18102A"/>
              </a:gs>
            </a:gsLst>
            <a:lin ang="81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36576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GUCCI · ROBLOX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23360"/>
            <a:ext cx="3657600" cy="2286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0" b="0" i="0">
                <a:solidFill>
                  <a:srgbClr val="FFFFFF"/>
                </a:solidFill>
                <a:latin typeface="Space Grotesk"/>
              </a:rPr>
              <a:t>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035040"/>
            <a:ext cx="36576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0" i="1">
                <a:solidFill>
                  <a:srgbClr val="8B909C"/>
                </a:solidFill>
                <a:latin typeface="Cormorant Garamond"/>
              </a:rPr>
              <a:t>Queen Bee · digital edition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90872" y="3200400"/>
            <a:ext cx="3520440" cy="15544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65192" y="3383280"/>
            <a:ext cx="3017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ПЛАТФОРМА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703320"/>
            <a:ext cx="3017520" cy="9144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1">
                <a:solidFill>
                  <a:srgbClr val="FFFFFF"/>
                </a:solidFill>
                <a:latin typeface="Cormorant Garamond"/>
              </a:rPr>
              <a:t>Gucci Town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65192" y="4297680"/>
            <a:ext cx="301752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Постоянное пространство · Roblox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0872" y="4937760"/>
            <a:ext cx="3520440" cy="155448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65192" y="5120640"/>
            <a:ext cx="301752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МЕХАНИКА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5440680"/>
            <a:ext cx="3017520" cy="10058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i="0">
                <a:solidFill>
                  <a:srgbClr val="E2E5EA"/>
                </a:solidFill>
                <a:latin typeface="Inter"/>
              </a:rPr>
              <a:t>Мини-игры, общение, </a:t>
            </a:r>
            <a:r>
              <a:rPr sz="1200" b="1" i="0">
                <a:solidFill>
                  <a:srgbClr val="FFFFFF"/>
                </a:solidFill>
                <a:latin typeface="Inter"/>
              </a:rPr>
              <a:t>цифровой мерч</a:t>
            </a:r>
            <a:r>
              <a:rPr sz="1200" b="0" i="0">
                <a:solidFill>
                  <a:srgbClr val="E2E5EA"/>
                </a:solidFill>
                <a:latin typeface="Inter"/>
              </a:rPr>
              <a:t> за внутреннюю валюту.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48472" y="3200400"/>
            <a:ext cx="338328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0F141F"/>
              </a:gs>
            </a:gsLst>
            <a:lin ang="8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2792" y="3383280"/>
            <a:ext cx="29260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ФИНАНСОВЫЙ ФЕНОМЕН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22792" y="3703320"/>
            <a:ext cx="292608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B909C"/>
                </a:solidFill>
                <a:latin typeface="Space Grotesk"/>
              </a:rPr>
              <a:t>ЦИФРОВАЯ КОПИЯ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22792" y="4114800"/>
            <a:ext cx="2926080" cy="1371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0" i="1">
                <a:solidFill>
                  <a:srgbClr val="FFFFFF"/>
                </a:solidFill>
                <a:latin typeface="Cormorant Garamond"/>
              </a:rPr>
              <a:t>Дороже</a:t>
            </a:r>
          </a:p>
          <a:p>
            <a:pPr algn="l">
              <a:lnSpc>
                <a:spcPct val="100000"/>
              </a:lnSpc>
            </a:pPr>
            <a:r>
              <a:rPr sz="3000" b="0" i="1">
                <a:solidFill>
                  <a:srgbClr val="FFFFFF"/>
                </a:solidFill>
                <a:latin typeface="Cormorant Garamond"/>
              </a:rPr>
              <a:t>физической.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622792" y="5623560"/>
            <a:ext cx="2807208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622792" y="5760720"/>
            <a:ext cx="292608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1">
                <a:solidFill>
                  <a:srgbClr val="8B909C"/>
                </a:solidFill>
                <a:latin typeface="Inter"/>
              </a:rPr>
              <a:t>Цифровая Gucci Queen Bee перепродана на внутреннем рынке дороже реальной сумки в рознице.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08 · ЭКОНОМИКА АВАТАРОВ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010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FFFFFF"/>
                </a:solidFill>
                <a:latin typeface="Cormorant Garamond"/>
              </a:rPr>
              <a:t>Аватар — это</a:t>
            </a:r>
          </a:p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FFFFFF"/>
                </a:solidFill>
                <a:latin typeface="Cormorant Garamond"/>
              </a:rPr>
              <a:t>продолжение личности.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1874519" cy="155448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383280"/>
            <a:ext cx="1645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C9A66B"/>
                </a:solidFill>
                <a:latin typeface="Space Grotesk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703320"/>
            <a:ext cx="164592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Space Grotesk"/>
              </a:rPr>
              <a:t>Самовыражение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069080"/>
            <a:ext cx="16459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Аватар как высказывание о себе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68880" y="3200400"/>
            <a:ext cx="1874519" cy="15544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3383280"/>
            <a:ext cx="1645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C9A66B"/>
                </a:solidFill>
                <a:latin typeface="Space Grotesk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703320"/>
            <a:ext cx="164592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Space Grotesk"/>
              </a:rPr>
              <a:t>Статус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4069080"/>
            <a:ext cx="16459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Виртуальный люкс = реальный люкс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92040"/>
            <a:ext cx="1874519" cy="155448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074920"/>
            <a:ext cx="1645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C9A66B"/>
                </a:solidFill>
                <a:latin typeface="Space Grotesk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394960"/>
            <a:ext cx="164592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Space Grotesk"/>
              </a:rPr>
              <a:t>Эксклюзивность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760720"/>
            <a:ext cx="16459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Ограниченные дропы, лимитированные коллекции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468880" y="4892040"/>
            <a:ext cx="1874519" cy="15544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7480" y="5074920"/>
            <a:ext cx="16459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C9A66B"/>
                </a:solidFill>
                <a:latin typeface="Space Grotesk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80" y="5394960"/>
            <a:ext cx="164592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Space Grotesk"/>
              </a:rPr>
              <a:t>Идентичность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97480" y="5760720"/>
            <a:ext cx="1645920" cy="7315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Прямое продолжение «я» в сети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90872" y="3200400"/>
            <a:ext cx="704088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261B3D"/>
              </a:gs>
              <a:gs pos="100000">
                <a:srgbClr val="10101C"/>
              </a:gs>
            </a:gsLst>
            <a:lin ang="8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0" y="3383280"/>
            <a:ext cx="64008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ECONOMY · D2A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3749039"/>
            <a:ext cx="6400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0" i="1">
                <a:solidFill>
                  <a:srgbClr val="FFFFFF"/>
                </a:solidFill>
                <a:latin typeface="Cormorant Garamond"/>
              </a:rPr>
              <a:t>Скины и цифровая одежда —</a:t>
            </a:r>
          </a:p>
          <a:p>
            <a:pPr algn="l">
              <a:lnSpc>
                <a:spcPct val="105000"/>
              </a:lnSpc>
            </a:pPr>
            <a:r>
              <a:rPr sz="3200" b="0" i="1">
                <a:solidFill>
                  <a:srgbClr val="FFFFFF"/>
                </a:solidFill>
                <a:latin typeface="Cormorant Garamond"/>
              </a:rPr>
              <a:t>высокомаржинальный бизнес.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029200" y="5486400"/>
            <a:ext cx="640080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029200" y="5623560"/>
            <a:ext cx="6400800" cy="8229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E2E5EA"/>
                </a:solidFill>
                <a:latin typeface="Inter"/>
              </a:rPr>
              <a:t>Без затрат на </a:t>
            </a:r>
            <a:r>
              <a:rPr sz="1300" b="1" i="0">
                <a:solidFill>
                  <a:srgbClr val="FFFFFF"/>
                </a:solidFill>
                <a:latin typeface="Inter"/>
              </a:rPr>
              <a:t>ткани, логистику и склады</a:t>
            </a:r>
            <a:r>
              <a:rPr sz="1300" b="0" i="0">
                <a:solidFill>
                  <a:srgbClr val="E2E5EA"/>
                </a:solidFill>
                <a:latin typeface="Inter"/>
              </a:rPr>
              <a:t>.  Цифровой пиксель → реальная выручка.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09 · КЕЙС NIKE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011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FFFFFF"/>
                </a:solidFill>
                <a:latin typeface="Cormorant Garamond"/>
              </a:rPr>
              <a:t>Nikeland.</a:t>
            </a:r>
          </a:p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FFFFFF"/>
                </a:solidFill>
                <a:latin typeface="Cormorant Garamond"/>
              </a:rPr>
              <a:t>Метавселенная как примерочная.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484632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0F141F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41148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АУДИТОРИЯ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57600"/>
            <a:ext cx="4114800" cy="21031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1000" b="0" i="0">
                <a:solidFill>
                  <a:srgbClr val="FFFFFF"/>
                </a:solidFill>
                <a:latin typeface="Space Grotesk"/>
              </a:rPr>
              <a:t>30M+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5669280"/>
            <a:ext cx="425196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5806440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8B909C"/>
                </a:solidFill>
                <a:latin typeface="Space Grotesk"/>
              </a:rPr>
              <a:t>ПОСЕТИТЕЛЕЙ NIKELAND В ROBLOX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126480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E2E5EA"/>
                </a:solidFill>
                <a:latin typeface="Inter"/>
              </a:rPr>
              <a:t>Метавселенная = интерактивная примерочная.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22392" y="3200400"/>
            <a:ext cx="6309360" cy="100584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42432" y="3383280"/>
            <a:ext cx="54864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9A66B"/>
                </a:solidFill>
                <a:latin typeface="Space Grotesk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93992" y="3401568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300">
                <a:solidFill>
                  <a:srgbClr val="FFFFFF"/>
                </a:solidFill>
                <a:latin typeface="Space Grotesk"/>
              </a:rPr>
              <a:t>ПРИМЕРЬ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93992" y="3749040"/>
            <a:ext cx="41148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Новые модели кроссовок на твоём аватаре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22392" y="4297680"/>
            <a:ext cx="6309360" cy="100584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2432" y="4480560"/>
            <a:ext cx="54864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9A66B"/>
                </a:solidFill>
                <a:latin typeface="Space Grotesk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93992" y="4498848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300">
                <a:solidFill>
                  <a:srgbClr val="FFFFFF"/>
                </a:solidFill>
                <a:latin typeface="Space Grotesk"/>
              </a:rPr>
              <a:t>ПОСМОТРИ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93992" y="4846320"/>
            <a:ext cx="41148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Как они выглядят в движении в спортивной игре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22392" y="5394960"/>
            <a:ext cx="6309360" cy="100584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42432" y="5577840"/>
            <a:ext cx="548640" cy="5486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C9A66B"/>
                </a:solidFill>
                <a:latin typeface="Space Grotesk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5596128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300">
                <a:solidFill>
                  <a:srgbClr val="FFFFFF"/>
                </a:solidFill>
                <a:latin typeface="Space Grotesk"/>
              </a:rPr>
              <a:t>КУПИ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93992" y="5943600"/>
            <a:ext cx="41148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8B909C"/>
                </a:solidFill>
                <a:latin typeface="Inter"/>
              </a:rPr>
              <a:t>Точно такую же физическую пару в реальном мире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10 · КЕЙС АВТОПРОМА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012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FFFFFF"/>
                </a:solidFill>
                <a:latin typeface="Cormorant Garamond"/>
              </a:rPr>
              <a:t>Hyundai · BMW.</a:t>
            </a:r>
          </a:p>
          <a:p>
            <a:pPr algn="l">
              <a:lnSpc>
                <a:spcPct val="100000"/>
              </a:lnSpc>
            </a:pPr>
            <a:r>
              <a:rPr sz="4000" b="0" i="1">
                <a:solidFill>
                  <a:srgbClr val="FFFFFF"/>
                </a:solidFill>
                <a:latin typeface="Cormorant Garamond"/>
              </a:rPr>
              <a:t>Виртуальный шоурум до сделки.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484632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0E121B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83280"/>
            <a:ext cx="41148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400">
                <a:solidFill>
                  <a:srgbClr val="C9A66B"/>
                </a:solidFill>
                <a:latin typeface="Space Grotesk"/>
              </a:rPr>
              <a:t>ВИРТУАЛЬНЫЙ ШОУРУМ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31920"/>
            <a:ext cx="4114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0" b="0" i="0">
                <a:solidFill>
                  <a:srgbClr val="FFFFFF"/>
                </a:solidFill>
                <a:latin typeface="Space Grotesk"/>
              </a:rPr>
              <a:t>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5760720"/>
            <a:ext cx="425196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5943600"/>
            <a:ext cx="411480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400" b="1" i="0" spc="400">
                <a:solidFill>
                  <a:srgbClr val="FFFFFF"/>
                </a:solidFill>
                <a:latin typeface="Space Grotesk"/>
              </a:rPr>
              <a:t>HYUNDAI · BMW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22392" y="3200400"/>
            <a:ext cx="3108960" cy="155448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6712" y="3383280"/>
            <a:ext cx="2286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C9A66B"/>
                </a:solidFill>
                <a:latin typeface="Space Grotesk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96712" y="3703320"/>
            <a:ext cx="256032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pace Grotesk"/>
              </a:rPr>
              <a:t>Конфигурация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6712" y="4114800"/>
            <a:ext cx="256032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Кастомная сборка авто в реальном времени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8512" y="3200400"/>
            <a:ext cx="3108960" cy="15544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42832" y="3383280"/>
            <a:ext cx="2286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C9A66B"/>
                </a:solidFill>
                <a:latin typeface="Space Grotesk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2832" y="3703320"/>
            <a:ext cx="256032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pace Grotesk"/>
              </a:rPr>
              <a:t>Салон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4114800"/>
            <a:ext cx="256032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Детальное 3D-изучение интерьера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22392" y="4892040"/>
            <a:ext cx="3108960" cy="155448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96712" y="5074920"/>
            <a:ext cx="2286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C9A66B"/>
                </a:solidFill>
                <a:latin typeface="Space Grotesk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96712" y="5394960"/>
            <a:ext cx="256032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pace Grotesk"/>
              </a:rPr>
              <a:t>Тест-драйв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5806440"/>
            <a:ext cx="256032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На трассах, недоступных в реальности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8512" y="4892040"/>
            <a:ext cx="3108960" cy="155448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42832" y="5074920"/>
            <a:ext cx="228600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C9A66B"/>
                </a:solidFill>
                <a:latin typeface="Space Grotesk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42832" y="5394960"/>
            <a:ext cx="2560320" cy="4114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Space Grotesk"/>
              </a:rPr>
              <a:t>Конверсия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42832" y="5806440"/>
            <a:ext cx="256032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Прогретый клиент → готовая сделка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11 · ГЛАВНАЯ МЕТРИКА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013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FFFFFF"/>
                </a:solidFill>
                <a:latin typeface="Cormorant Garamond"/>
              </a:rPr>
              <a:t>Вовлечённость,</a:t>
            </a:r>
          </a:p>
          <a:p>
            <a:pPr algn="l">
              <a:lnSpc>
                <a:spcPct val="100000"/>
              </a:lnSpc>
            </a:pPr>
            <a:r>
              <a:rPr sz="4200" b="0" i="1">
                <a:solidFill>
                  <a:srgbClr val="FFFFFF"/>
                </a:solidFill>
                <a:latin typeface="Cormorant Garamond"/>
              </a:rPr>
              <a:t>которой нет нигде.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5029200" cy="329184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41148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6B7280"/>
                </a:solidFill>
                <a:latin typeface="Space Grotesk"/>
              </a:rPr>
              <a:t>ИНТЕРНЕТ-МАГАЗИН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49039"/>
            <a:ext cx="4389120" cy="21945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0" i="0">
                <a:solidFill>
                  <a:srgbClr val="8B909C"/>
                </a:solidFill>
                <a:latin typeface="Space Grotesk"/>
              </a:rPr>
              <a:t>2–3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5943600"/>
            <a:ext cx="438912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6080760"/>
            <a:ext cx="41148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6B7280"/>
                </a:solidFill>
                <a:latin typeface="Space Grotesk"/>
              </a:rPr>
              <a:t>МИНУТЫ В СРЕДНЕМ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05272" y="3200400"/>
            <a:ext cx="612648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101622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429000"/>
            <a:ext cx="41148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МЕТАВСЕЛЕННАЯ БРЕНДА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3749039"/>
            <a:ext cx="5486400" cy="21945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8000" b="0" i="0">
                <a:solidFill>
                  <a:srgbClr val="FFFFFF"/>
                </a:solidFill>
                <a:latin typeface="Space Grotesk"/>
              </a:rPr>
              <a:t>20–40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43600" y="5943600"/>
            <a:ext cx="548640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43600" y="6080760"/>
            <a:ext cx="5486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МИНУТ </a:t>
            </a:r>
            <a:r>
              <a:rPr sz="900" b="0" i="0" spc="400">
                <a:solidFill>
                  <a:srgbClr val="8B909C"/>
                </a:solidFill>
                <a:latin typeface="Space Grotesk"/>
              </a:rPr>
              <a:t>· МНОЖИТЕЛЬ </a:t>
            </a:r>
            <a:r>
              <a:rPr sz="900" b="1" i="0" spc="400">
                <a:solidFill>
                  <a:srgbClr val="FFFFFF"/>
                </a:solidFill>
                <a:latin typeface="Space Grotesk"/>
              </a:rPr>
              <a:t>×10–13</a:t>
            </a:r>
            <a:r>
              <a:rPr sz="900" b="0" i="0" spc="400">
                <a:solidFill>
                  <a:srgbClr val="8B909C"/>
                </a:solidFill>
                <a:latin typeface="Space Grotesk"/>
              </a:rPr>
              <a:t> К СЕССИИ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12 · БИЗНЕС-ЭФФЕКТЫ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014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0" i="1">
                <a:solidFill>
                  <a:srgbClr val="FFFFFF"/>
                </a:solidFill>
                <a:latin typeface="Cormorant Garamond"/>
              </a:rPr>
              <a:t>Три эффекта, ради которых</a:t>
            </a:r>
          </a:p>
          <a:p>
            <a:pPr algn="l">
              <a:lnSpc>
                <a:spcPct val="100000"/>
              </a:lnSpc>
            </a:pPr>
            <a:r>
              <a:rPr sz="3800" b="0" i="1">
                <a:solidFill>
                  <a:srgbClr val="FFFFFF"/>
                </a:solidFill>
                <a:latin typeface="Cormorant Garamond"/>
              </a:rPr>
              <a:t>бренды инвестируют.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3749039" cy="329184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3200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03320"/>
            <a:ext cx="3200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300">
                <a:solidFill>
                  <a:srgbClr val="FFFFFF"/>
                </a:solidFill>
                <a:latin typeface="Space Grotesk"/>
              </a:rPr>
              <a:t>ВОВЛЕЧЁННОСТЬ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114800"/>
            <a:ext cx="3200400" cy="1463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000" b="0" i="0">
                <a:solidFill>
                  <a:srgbClr val="FFFFFF"/>
                </a:solidFill>
                <a:latin typeface="Space Grotesk"/>
              </a:rPr>
              <a:t>×10–13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77240" y="5715000"/>
            <a:ext cx="3108959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77240" y="5852160"/>
            <a:ext cx="32004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20–40 минут вместо 2–3. Эффект геймификации.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5111" y="3200400"/>
            <a:ext cx="3749039" cy="329184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45151" y="3429000"/>
            <a:ext cx="3200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45151" y="3703320"/>
            <a:ext cx="3200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300">
                <a:solidFill>
                  <a:srgbClr val="FFFFFF"/>
                </a:solidFill>
                <a:latin typeface="Space Grotesk"/>
              </a:rPr>
              <a:t>ТЕСТ БЕЗ РИСКОВ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5151" y="4114800"/>
            <a:ext cx="3200400" cy="1463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000" b="0" i="0">
                <a:solidFill>
                  <a:srgbClr val="FFFFFF"/>
                </a:solidFill>
                <a:latin typeface="Space Grotesk"/>
              </a:rPr>
              <a:t>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645151" y="5715000"/>
            <a:ext cx="3108959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45151" y="5852160"/>
            <a:ext cx="32004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Не отшивать коллекцию, не выпускать концепт-кар. Сначала цифра — потом производство.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22" y="3200400"/>
            <a:ext cx="3749039" cy="329184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13062" y="3429000"/>
            <a:ext cx="320040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13062" y="3703320"/>
            <a:ext cx="32004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 spc="300">
                <a:solidFill>
                  <a:srgbClr val="FFFFFF"/>
                </a:solidFill>
                <a:latin typeface="Space Grotesk"/>
              </a:rPr>
              <a:t>ОХВАТ 24/7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13062" y="4114800"/>
            <a:ext cx="3200400" cy="1463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9000" b="0" i="0">
                <a:solidFill>
                  <a:srgbClr val="FFFFFF"/>
                </a:solidFill>
                <a:latin typeface="Space Grotesk"/>
              </a:rPr>
              <a:t>∞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513062" y="5715000"/>
            <a:ext cx="3108959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513062" y="5852160"/>
            <a:ext cx="3200400" cy="6400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000" b="0" i="0">
                <a:solidFill>
                  <a:srgbClr val="8B909C"/>
                </a:solidFill>
                <a:latin typeface="Inter"/>
              </a:rPr>
              <a:t>Виртуальный флагман доступен из любой точки планеты. Без аренды и зарплат продавцам.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E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57200" y="411480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457200" y="164592"/>
            <a:ext cx="36576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1" i="0" spc="400">
                <a:solidFill>
                  <a:srgbClr val="FFFFFF"/>
                </a:solidFill>
                <a:latin typeface="Space Grotesk"/>
              </a:rPr>
              <a:t>METAVERSE</a:t>
            </a:r>
            <a:r>
              <a:rPr sz="800" b="0" i="0" spc="400">
                <a:solidFill>
                  <a:srgbClr val="8B909C"/>
                </a:solidFill>
                <a:latin typeface="Space Grotesk"/>
              </a:rPr>
              <a:t>  COMMERCE  ·  V·COMM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0" y="164592"/>
            <a:ext cx="4873752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13 · ВЫВОД И ИСТОЧНИКИ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31352" y="164592"/>
            <a:ext cx="3200400" cy="2286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800" b="0" i="0" spc="400">
                <a:solidFill>
                  <a:srgbClr val="8B909C"/>
                </a:solidFill>
                <a:latin typeface="Space Grotesk"/>
              </a:rPr>
              <a:t>015 / 015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565392"/>
            <a:ext cx="11274552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629400"/>
            <a:ext cx="73152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MMVI · METAVERSE COMMERCE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31352" y="6629400"/>
            <a:ext cx="3200400" cy="18288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700" b="0" i="0" spc="400">
                <a:solidFill>
                  <a:srgbClr val="5A606B"/>
                </a:solidFill>
                <a:latin typeface="Space Grotesk"/>
              </a:rPr>
              <a:t>EDITION №01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777240"/>
            <a:ext cx="731520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234440"/>
            <a:ext cx="10972800" cy="18288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0" i="1">
                <a:solidFill>
                  <a:srgbClr val="FFFFFF"/>
                </a:solidFill>
                <a:latin typeface="Cormorant Garamond"/>
              </a:rPr>
              <a:t>Хайп прошёл.</a:t>
            </a:r>
          </a:p>
          <a:p>
            <a:pPr algn="l">
              <a:lnSpc>
                <a:spcPct val="100000"/>
              </a:lnSpc>
            </a:pPr>
            <a:r>
              <a:rPr sz="4600" b="0" i="1">
                <a:solidFill>
                  <a:srgbClr val="FFFFFF"/>
                </a:solidFill>
                <a:latin typeface="Cormorant Garamond"/>
              </a:rPr>
              <a:t>Бизнес — остался.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200400"/>
            <a:ext cx="6400800" cy="3291840"/>
          </a:xfrm>
          <a:prstGeom prst="roundRect">
            <a:avLst>
              <a:gd name="adj" fmla="val 2500"/>
            </a:avLst>
          </a:prstGeom>
          <a:gradFill flip="none" rotWithShape="1">
            <a:gsLst>
              <a:gs pos="0">
                <a:srgbClr val="1F2A3D"/>
              </a:gs>
              <a:gs pos="100000">
                <a:srgbClr val="10141E"/>
              </a:gs>
            </a:gsLst>
            <a:lin ang="96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429000"/>
            <a:ext cx="5669280" cy="27432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C9A66B"/>
                </a:solidFill>
                <a:latin typeface="Space Grotesk"/>
              </a:rPr>
              <a:t>TAKEAWAY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94760"/>
            <a:ext cx="5669280" cy="22860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FFFFFF"/>
                </a:solidFill>
                <a:latin typeface="Cormorant Garamond"/>
              </a:rPr>
              <a:t>Побеждают те, кто строит</a:t>
            </a:r>
          </a:p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FFFFFF"/>
                </a:solidFill>
                <a:latin typeface="Cormorant Garamond"/>
              </a:rPr>
              <a:t>полезный, увлекательный</a:t>
            </a:r>
          </a:p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FFFFFF"/>
                </a:solidFill>
                <a:latin typeface="Cormorant Garamond"/>
              </a:rPr>
              <a:t>и коммерчески продуманный опыт.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77240" y="5989320"/>
            <a:ext cx="5897880" cy="0"/>
          </a:xfrm>
          <a:prstGeom prst="line">
            <a:avLst/>
          </a:prstGeom>
          <a:ln w="6350">
            <a:solidFill>
              <a:srgbClr val="2226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77240" y="6126480"/>
            <a:ext cx="5669280" cy="36576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 spc="300">
                <a:solidFill>
                  <a:srgbClr val="8B909C"/>
                </a:solidFill>
                <a:latin typeface="Space Grotesk"/>
              </a:rPr>
              <a:t>Виртуальное присутствие → реальная прибыль.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76872" y="3200400"/>
            <a:ext cx="475488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 spc="400">
                <a:solidFill>
                  <a:srgbClr val="8B909C"/>
                </a:solidFill>
                <a:latin typeface="Space Grotesk"/>
              </a:rPr>
              <a:t>ИСТОЧНИКИ И АНАЛИТИКА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76872" y="3611880"/>
            <a:ext cx="4754880" cy="105156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51192" y="3794760"/>
            <a:ext cx="54864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74152" y="3813048"/>
            <a:ext cx="34747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300">
                <a:solidFill>
                  <a:srgbClr val="FFFFFF"/>
                </a:solidFill>
                <a:latin typeface="Space Grotesk"/>
              </a:rPr>
              <a:t>INFOCITY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4152" y="4142232"/>
            <a:ext cx="347472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8B909C"/>
                </a:solidFill>
                <a:latin typeface="Inter"/>
              </a:rPr>
              <a:t>«10 главных метавселенных для игр, заработка и творчества»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76872" y="4709160"/>
            <a:ext cx="4754880" cy="1051560"/>
          </a:xfrm>
          <a:prstGeom prst="roundRect">
            <a:avLst>
              <a:gd name="adj" fmla="val 2500"/>
            </a:avLst>
          </a:prstGeom>
          <a:solidFill>
            <a:srgbClr val="1B1E24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51192" y="4892040"/>
            <a:ext cx="54864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152" y="4910328"/>
            <a:ext cx="34747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300">
                <a:solidFill>
                  <a:srgbClr val="FFFFFF"/>
                </a:solidFill>
                <a:latin typeface="Space Grotesk"/>
              </a:rPr>
              <a:t>ROBLOX · EPIC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239512"/>
            <a:ext cx="347472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8B909C"/>
                </a:solidFill>
                <a:latin typeface="Inter"/>
              </a:rPr>
              <a:t>Investor Relations · бизнес-кейсы Nikeland и Gucci Town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76872" y="5806440"/>
            <a:ext cx="4754880" cy="1051560"/>
          </a:xfrm>
          <a:prstGeom prst="roundRect">
            <a:avLst>
              <a:gd name="adj" fmla="val 2500"/>
            </a:avLst>
          </a:prstGeom>
          <a:solidFill>
            <a:srgbClr val="14161B"/>
          </a:solidFill>
          <a:ln w="6350">
            <a:solidFill>
              <a:srgbClr val="2226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1192" y="5989320"/>
            <a:ext cx="54864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9A66B"/>
                </a:solidFill>
                <a:latin typeface="Space Grotesk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74152" y="6007608"/>
            <a:ext cx="3474720" cy="32004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300">
                <a:solidFill>
                  <a:srgbClr val="FFFFFF"/>
                </a:solidFill>
                <a:latin typeface="Space Grotesk"/>
              </a:rPr>
              <a:t>META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74152" y="6336792"/>
            <a:ext cx="3474720" cy="457200"/>
          </a:xfrm>
          <a:prstGeom prst="rect">
            <a:avLst/>
          </a:prstGeom>
          <a:noFill/>
        </p:spPr>
        <p:txBody>
          <a:bodyPr wrap="square" anchor="t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8B909C"/>
                </a:solidFill>
                <a:latin typeface="Inter"/>
              </a:rPr>
              <a:t>Reality Labs Losses · финансовая отчётность 2022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