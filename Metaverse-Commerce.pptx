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B1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2743200" y="-2743200"/>
            <a:ext cx="7315200" cy="7315200"/>
          </a:xfrm>
          <a:prstGeom prst="ellipse">
            <a:avLst/>
          </a:prstGeom>
          <a:solidFill>
            <a:srgbClr val="00F2FF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315200" y="3657600"/>
            <a:ext cx="7315200" cy="7315200"/>
          </a:xfrm>
          <a:prstGeom prst="ellipse">
            <a:avLst/>
          </a:prstGeom>
          <a:solidFill>
            <a:srgbClr val="9D4EDD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20000"/>
          </a:xfrm>
          <a:prstGeom prst="rect">
            <a:avLst/>
          </a:prstGeom>
          <a:solidFill>
            <a:srgbClr val="1F26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812779" cy="20000"/>
          </a:xfrm>
          <a:prstGeom prst="rect">
            <a:avLst/>
          </a:prstGeom>
          <a:solidFill>
            <a:srgbClr val="00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8288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0" i="0">
                <a:solidFill>
                  <a:srgbClr val="00F2FF"/>
                </a:solidFill>
                <a:latin typeface="Space Grotesk"/>
              </a:rPr>
              <a:t>V·</a:t>
            </a:r>
            <a:r>
              <a:rPr sz="800" b="0" i="0">
                <a:solidFill>
                  <a:srgbClr val="94A3B8"/>
                </a:solidFill>
                <a:latin typeface="Space Grotesk"/>
              </a:rPr>
              <a:t>COMMERCE ·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4652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 i="0" spc="200">
                <a:solidFill>
                  <a:srgbClr val="94A3B8"/>
                </a:solidFill>
                <a:latin typeface="Space Grotesk"/>
              </a:rPr>
              <a:t>01 / 15</a:t>
            </a:r>
          </a:p>
        </p:txBody>
      </p:sp>
      <p:sp>
        <p:nvSpPr>
          <p:cNvPr id="8" name="Oval 7"/>
          <p:cNvSpPr/>
          <p:nvPr/>
        </p:nvSpPr>
        <p:spPr>
          <a:xfrm>
            <a:off x="-3657600" y="-3657600"/>
            <a:ext cx="10972800" cy="10972800"/>
          </a:xfrm>
          <a:prstGeom prst="ellipse">
            <a:avLst/>
          </a:prstGeom>
          <a:solidFill>
            <a:srgbClr val="9D4EDD">
              <a:alpha val="1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5486400" y="1828800"/>
            <a:ext cx="10972800" cy="10972800"/>
          </a:xfrm>
          <a:prstGeom prst="ellipse">
            <a:avLst/>
          </a:prstGeom>
          <a:solidFill>
            <a:srgbClr val="00F2FF">
              <a:alpha val="1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219456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0" i="0" spc="400">
                <a:solidFill>
                  <a:srgbClr val="00F2FF"/>
                </a:solidFill>
                <a:latin typeface="Space Grotesk"/>
              </a:rPr>
              <a:t>V·COMMERCE · 2026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651760"/>
            <a:ext cx="10058400" cy="228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6000" b="0" i="0">
                <a:solidFill>
                  <a:srgbClr val="FFFFFF"/>
                </a:solidFill>
                <a:latin typeface="Space Grotesk"/>
              </a:rPr>
              <a:t>Metaverse Commerce.</a:t>
            </a:r>
          </a:p>
          <a:p>
            <a:pPr algn="ctr">
              <a:lnSpc>
                <a:spcPct val="105000"/>
              </a:lnSpc>
            </a:pPr>
            <a:r>
              <a:rPr sz="6000" b="0" i="0">
                <a:solidFill>
                  <a:srgbClr val="FFFFFF"/>
                </a:solidFill>
                <a:latin typeface="Space Grotesk"/>
              </a:rPr>
              <a:t>Новая география продаж.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5303520"/>
            <a:ext cx="100584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0000"/>
              </a:lnSpc>
            </a:pPr>
            <a:r>
              <a:rPr sz="1400" b="0" i="0">
                <a:solidFill>
                  <a:srgbClr val="94A3B8"/>
                </a:solidFill>
                <a:latin typeface="Inter"/>
              </a:rPr>
              <a:t>Опыт продаж компаний через метавселенные —</a:t>
            </a:r>
          </a:p>
          <a:p>
            <a:pPr algn="ctr">
              <a:lnSpc>
                <a:spcPct val="140000"/>
              </a:lnSpc>
            </a:pPr>
            <a:r>
              <a:rPr sz="1400" b="0" i="0">
                <a:solidFill>
                  <a:srgbClr val="94A3B8"/>
                </a:solidFill>
                <a:latin typeface="Inter"/>
              </a:rPr>
              <a:t>от Direct-to-Avatar до Phygital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B1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2743200" y="-2743200"/>
            <a:ext cx="7315200" cy="7315200"/>
          </a:xfrm>
          <a:prstGeom prst="ellipse">
            <a:avLst/>
          </a:prstGeom>
          <a:solidFill>
            <a:srgbClr val="00F2FF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315200" y="3657600"/>
            <a:ext cx="7315200" cy="7315200"/>
          </a:xfrm>
          <a:prstGeom prst="ellipse">
            <a:avLst/>
          </a:prstGeom>
          <a:solidFill>
            <a:srgbClr val="9D4EDD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20000"/>
          </a:xfrm>
          <a:prstGeom prst="rect">
            <a:avLst/>
          </a:prstGeom>
          <a:solidFill>
            <a:srgbClr val="1F26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625559" cy="20000"/>
          </a:xfrm>
          <a:prstGeom prst="rect">
            <a:avLst/>
          </a:prstGeom>
          <a:solidFill>
            <a:srgbClr val="00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8288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0" i="0">
                <a:solidFill>
                  <a:srgbClr val="00F2FF"/>
                </a:solidFill>
                <a:latin typeface="Space Grotesk"/>
              </a:rPr>
              <a:t>V·</a:t>
            </a:r>
            <a:r>
              <a:rPr sz="800" b="0" i="0">
                <a:solidFill>
                  <a:srgbClr val="94A3B8"/>
                </a:solidFill>
                <a:latin typeface="Space Grotesk"/>
              </a:rPr>
              <a:t>COMMERCE ·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4652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 i="0" spc="200">
                <a:solidFill>
                  <a:srgbClr val="94A3B8"/>
                </a:solidFill>
                <a:latin typeface="Space Grotesk"/>
              </a:rPr>
              <a:t>02 / 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50292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 spc="350">
                <a:solidFill>
                  <a:srgbClr val="00F2FF"/>
                </a:solidFill>
                <a:latin typeface="Space Grotesk"/>
              </a:rPr>
              <a:t>01 · СМЕНА ПАРАДИГМЫ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868680"/>
            <a:ext cx="1051560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800" b="0" i="0">
                <a:solidFill>
                  <a:srgbClr val="FFFFFF"/>
                </a:solidFill>
                <a:latin typeface="Space Grotesk"/>
              </a:rPr>
              <a:t>От плоского скролла —</a:t>
            </a:r>
          </a:p>
          <a:p>
            <a:pPr algn="l">
              <a:lnSpc>
                <a:spcPct val="105000"/>
              </a:lnSpc>
            </a:pPr>
            <a:r>
              <a:rPr sz="3800" b="0" i="0">
                <a:solidFill>
                  <a:srgbClr val="FFFFFF"/>
                </a:solidFill>
                <a:latin typeface="Space Grotesk"/>
              </a:rPr>
              <a:t>к трёхмерному опыту.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2926080"/>
            <a:ext cx="4754880" cy="3291840"/>
          </a:xfrm>
          <a:prstGeom prst="roundRect">
            <a:avLst>
              <a:gd name="adj" fmla="val 6000"/>
            </a:avLst>
          </a:prstGeom>
          <a:solidFill>
            <a:srgbClr val="1A1D24"/>
          </a:solidFill>
          <a:ln w="6350">
            <a:solidFill>
              <a:srgbClr val="1F26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3154680"/>
            <a:ext cx="4389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 spc="300">
                <a:solidFill>
                  <a:srgbClr val="6B7280"/>
                </a:solidFill>
                <a:latin typeface="Space Grotesk"/>
              </a:rPr>
              <a:t>2D · E-COMMERCE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3657600"/>
            <a:ext cx="438912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4200" b="0" i="0">
                <a:solidFill>
                  <a:srgbClr val="6B7280"/>
                </a:solidFill>
                <a:latin typeface="Space Grotesk"/>
              </a:rPr>
              <a:t>▭ ▭ ▭</a:t>
            </a:r>
          </a:p>
          <a:p>
            <a:pPr algn="ctr">
              <a:lnSpc>
                <a:spcPct val="100000"/>
              </a:lnSpc>
            </a:pPr>
            <a:r>
              <a:rPr sz="4200" b="0" i="0">
                <a:solidFill>
                  <a:srgbClr val="6B7280"/>
                </a:solidFill>
                <a:latin typeface="Space Grotesk"/>
              </a:rPr>
              <a:t>▭ ▭ ▭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5394960"/>
            <a:ext cx="438912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6B7280"/>
                </a:solidFill>
                <a:latin typeface="Inter"/>
              </a:rPr>
              <a:t>Скучный скроллинг плоских веб-страниц интернет-магазинов и маркетплейсов.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0" y="4297680"/>
            <a:ext cx="8229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3600" b="0" i="0">
                <a:solidFill>
                  <a:srgbClr val="00F2FF"/>
                </a:solidFill>
                <a:latin typeface="Space Grotesk"/>
              </a:rP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583680" y="2926080"/>
            <a:ext cx="4754880" cy="3291840"/>
          </a:xfrm>
          <a:prstGeom prst="roundRect">
            <a:avLst>
              <a:gd name="adj" fmla="val 6000"/>
            </a:avLst>
          </a:prstGeom>
          <a:solidFill>
            <a:srgbClr val="101622"/>
          </a:solidFill>
          <a:ln w="6350">
            <a:solidFill>
              <a:srgbClr val="00F2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0" y="3154680"/>
            <a:ext cx="4389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 spc="300">
                <a:solidFill>
                  <a:srgbClr val="00F2FF"/>
                </a:solidFill>
                <a:latin typeface="Space Grotesk"/>
              </a:rPr>
              <a:t>3D · V-COMMERCE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0" y="3657600"/>
            <a:ext cx="438912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6400" b="0" i="0">
                <a:solidFill>
                  <a:srgbClr val="00F2FF"/>
                </a:solidFill>
                <a:latin typeface="Space Grotesk"/>
              </a:rPr>
              <a:t>◇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0" y="5394960"/>
            <a:ext cx="438912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E2E8F0"/>
                </a:solidFill>
                <a:latin typeface="Inter"/>
              </a:rPr>
              <a:t>Трёхмерное цифровое пространство, где бренды выстраивают </a:t>
            </a:r>
            <a:r>
              <a:rPr sz="1100" b="1" i="0">
                <a:solidFill>
                  <a:srgbClr val="FFFFFF"/>
                </a:solidFill>
                <a:latin typeface="Inter"/>
              </a:rPr>
              <a:t>принципиально новый клиентский опыт</a:t>
            </a:r>
            <a:r>
              <a:rPr sz="1100" b="0" i="0">
                <a:solidFill>
                  <a:srgbClr val="E2E8F0"/>
                </a:solidFill>
                <a:latin typeface="Inter"/>
              </a:rPr>
              <a:t>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B1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2743200" y="-2743200"/>
            <a:ext cx="7315200" cy="7315200"/>
          </a:xfrm>
          <a:prstGeom prst="ellipse">
            <a:avLst/>
          </a:prstGeom>
          <a:solidFill>
            <a:srgbClr val="00F2FF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315200" y="3657600"/>
            <a:ext cx="7315200" cy="7315200"/>
          </a:xfrm>
          <a:prstGeom prst="ellipse">
            <a:avLst/>
          </a:prstGeom>
          <a:solidFill>
            <a:srgbClr val="9D4EDD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20000"/>
          </a:xfrm>
          <a:prstGeom prst="rect">
            <a:avLst/>
          </a:prstGeom>
          <a:solidFill>
            <a:srgbClr val="1F26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2438339" cy="20000"/>
          </a:xfrm>
          <a:prstGeom prst="rect">
            <a:avLst/>
          </a:prstGeom>
          <a:solidFill>
            <a:srgbClr val="00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8288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0" i="0">
                <a:solidFill>
                  <a:srgbClr val="00F2FF"/>
                </a:solidFill>
                <a:latin typeface="Space Grotesk"/>
              </a:rPr>
              <a:t>V·</a:t>
            </a:r>
            <a:r>
              <a:rPr sz="800" b="0" i="0">
                <a:solidFill>
                  <a:srgbClr val="94A3B8"/>
                </a:solidFill>
                <a:latin typeface="Space Grotesk"/>
              </a:rPr>
              <a:t>COMMERCE ·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4652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 i="0" spc="200">
                <a:solidFill>
                  <a:srgbClr val="94A3B8"/>
                </a:solidFill>
                <a:latin typeface="Space Grotesk"/>
              </a:rPr>
              <a:t>03 / 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50292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 spc="350">
                <a:solidFill>
                  <a:srgbClr val="00F2FF"/>
                </a:solidFill>
                <a:latin typeface="Space Grotesk"/>
              </a:rPr>
              <a:t>02 · ДВЕ МОДЕЛИ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868680"/>
            <a:ext cx="1051560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600" b="0" i="0">
                <a:solidFill>
                  <a:srgbClr val="FFFFFF"/>
                </a:solidFill>
                <a:latin typeface="Space Grotesk"/>
              </a:rPr>
              <a:t>Две экономики одной метавселенной.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2743200"/>
            <a:ext cx="5212080" cy="3566160"/>
          </a:xfrm>
          <a:prstGeom prst="roundRect">
            <a:avLst>
              <a:gd name="adj" fmla="val 6000"/>
            </a:avLst>
          </a:prstGeom>
          <a:solidFill>
            <a:srgbClr val="101622"/>
          </a:solidFill>
          <a:ln w="6350">
            <a:solidFill>
              <a:srgbClr val="00F2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88720" y="2971800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 spc="300">
                <a:solidFill>
                  <a:srgbClr val="00F2FF"/>
                </a:solidFill>
                <a:latin typeface="Space Grotesk"/>
              </a:rPr>
              <a:t>МОДЕЛЬ 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" y="3337560"/>
            <a:ext cx="45720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800" b="0" i="0">
                <a:solidFill>
                  <a:srgbClr val="00F2FF"/>
                </a:solidFill>
                <a:latin typeface="Space Grotesk"/>
              </a:rPr>
              <a:t>D2A — Direct-to-Avatar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188720" y="4529840"/>
            <a:ext cx="137160" cy="15000"/>
          </a:xfrm>
          <a:prstGeom prst="rect">
            <a:avLst/>
          </a:prstGeom>
          <a:solidFill>
            <a:srgbClr val="00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417320" y="4434840"/>
            <a:ext cx="4572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E2E8F0"/>
                </a:solidFill>
                <a:latin typeface="Inter"/>
              </a:rPr>
              <a:t>Прямые продажи </a:t>
            </a:r>
            <a:r>
              <a:rPr sz="1200" b="1" i="0">
                <a:solidFill>
                  <a:srgbClr val="FFFFFF"/>
                </a:solidFill>
                <a:latin typeface="Inter"/>
              </a:rPr>
              <a:t>цифровых товаров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188720" y="5032759"/>
            <a:ext cx="137160" cy="15000"/>
          </a:xfrm>
          <a:prstGeom prst="rect">
            <a:avLst/>
          </a:prstGeom>
          <a:solidFill>
            <a:srgbClr val="00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417320" y="4937759"/>
            <a:ext cx="4572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E2E8F0"/>
                </a:solidFill>
                <a:latin typeface="Inter"/>
              </a:rPr>
              <a:t>Одежда, аксессуары, </a:t>
            </a:r>
            <a:r>
              <a:rPr sz="1200" b="1" i="0">
                <a:solidFill>
                  <a:srgbClr val="FFFFFF"/>
                </a:solidFill>
                <a:latin typeface="Inter"/>
              </a:rPr>
              <a:t>недвижимость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188720" y="5535679"/>
            <a:ext cx="137160" cy="15000"/>
          </a:xfrm>
          <a:prstGeom prst="rect">
            <a:avLst/>
          </a:prstGeom>
          <a:solidFill>
            <a:srgbClr val="00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417320" y="5440679"/>
            <a:ext cx="4572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E2E8F0"/>
                </a:solidFill>
                <a:latin typeface="Inter"/>
              </a:rPr>
              <a:t>Существуют </a:t>
            </a:r>
            <a:r>
              <a:rPr sz="1200" b="1" i="0">
                <a:solidFill>
                  <a:srgbClr val="FFFFFF"/>
                </a:solidFill>
                <a:latin typeface="Inter"/>
              </a:rPr>
              <a:t>только внутри виртуального мира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17920" y="2743200"/>
            <a:ext cx="5212080" cy="3566160"/>
          </a:xfrm>
          <a:prstGeom prst="roundRect">
            <a:avLst>
              <a:gd name="adj" fmla="val 6000"/>
            </a:avLst>
          </a:prstGeom>
          <a:solidFill>
            <a:srgbClr val="101622"/>
          </a:solidFill>
          <a:ln w="6350">
            <a:solidFill>
              <a:srgbClr val="9D4E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83680" y="2971800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 spc="300">
                <a:solidFill>
                  <a:srgbClr val="9D4EDD"/>
                </a:solidFill>
                <a:latin typeface="Space Grotesk"/>
              </a:rPr>
              <a:t>МОДЕЛЬ 02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0" y="3337560"/>
            <a:ext cx="45720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800" b="0" i="0">
                <a:solidFill>
                  <a:srgbClr val="9D4EDD"/>
                </a:solidFill>
                <a:latin typeface="Space Grotesk"/>
              </a:rPr>
              <a:t>Phygital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583680" y="4529840"/>
            <a:ext cx="137160" cy="15000"/>
          </a:xfrm>
          <a:prstGeom prst="rect">
            <a:avLst/>
          </a:prstGeom>
          <a:solidFill>
            <a:srgbClr val="9D4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12280" y="4434840"/>
            <a:ext cx="4572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E2E8F0"/>
                </a:solidFill>
                <a:latin typeface="Inter"/>
              </a:rPr>
              <a:t>Реальный товар через </a:t>
            </a:r>
            <a:r>
              <a:rPr sz="1200" b="1" i="0">
                <a:solidFill>
                  <a:srgbClr val="FFFFFF"/>
                </a:solidFill>
                <a:latin typeface="Inter"/>
              </a:rPr>
              <a:t>3D-опыт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583680" y="5032759"/>
            <a:ext cx="137160" cy="15000"/>
          </a:xfrm>
          <a:prstGeom prst="rect">
            <a:avLst/>
          </a:prstGeom>
          <a:solidFill>
            <a:srgbClr val="9D4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812280" y="4937759"/>
            <a:ext cx="4572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E2E8F0"/>
                </a:solidFill>
                <a:latin typeface="Inter"/>
              </a:rPr>
              <a:t>Заказ с </a:t>
            </a:r>
            <a:r>
              <a:rPr sz="1200" b="1" i="0">
                <a:solidFill>
                  <a:srgbClr val="FFFFFF"/>
                </a:solidFill>
                <a:latin typeface="Inter"/>
              </a:rPr>
              <a:t>доставкой на дом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583680" y="5535679"/>
            <a:ext cx="137160" cy="15000"/>
          </a:xfrm>
          <a:prstGeom prst="rect">
            <a:avLst/>
          </a:prstGeom>
          <a:solidFill>
            <a:srgbClr val="9D4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812280" y="5440679"/>
            <a:ext cx="4572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E2E8F0"/>
                </a:solidFill>
                <a:latin typeface="Inter"/>
              </a:rPr>
              <a:t>Инициирован внутри </a:t>
            </a:r>
            <a:r>
              <a:rPr sz="1200" b="1" i="0">
                <a:solidFill>
                  <a:srgbClr val="FFFFFF"/>
                </a:solidFill>
                <a:latin typeface="Inter"/>
              </a:rPr>
              <a:t>виртуального пространства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B1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2743200" y="-2743200"/>
            <a:ext cx="7315200" cy="7315200"/>
          </a:xfrm>
          <a:prstGeom prst="ellipse">
            <a:avLst/>
          </a:prstGeom>
          <a:solidFill>
            <a:srgbClr val="00F2FF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315200" y="3657600"/>
            <a:ext cx="7315200" cy="7315200"/>
          </a:xfrm>
          <a:prstGeom prst="ellipse">
            <a:avLst/>
          </a:prstGeom>
          <a:solidFill>
            <a:srgbClr val="9D4EDD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20000"/>
          </a:xfrm>
          <a:prstGeom prst="rect">
            <a:avLst/>
          </a:prstGeom>
          <a:solidFill>
            <a:srgbClr val="1F26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3251118" cy="20000"/>
          </a:xfrm>
          <a:prstGeom prst="rect">
            <a:avLst/>
          </a:prstGeom>
          <a:solidFill>
            <a:srgbClr val="00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8288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0" i="0">
                <a:solidFill>
                  <a:srgbClr val="00F2FF"/>
                </a:solidFill>
                <a:latin typeface="Space Grotesk"/>
              </a:rPr>
              <a:t>V·</a:t>
            </a:r>
            <a:r>
              <a:rPr sz="800" b="0" i="0">
                <a:solidFill>
                  <a:srgbClr val="94A3B8"/>
                </a:solidFill>
                <a:latin typeface="Space Grotesk"/>
              </a:rPr>
              <a:t>COMMERCE ·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4652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 i="0" spc="200">
                <a:solidFill>
                  <a:srgbClr val="94A3B8"/>
                </a:solidFill>
                <a:latin typeface="Space Grotesk"/>
              </a:rPr>
              <a:t>04 / 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50292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 spc="350">
                <a:solidFill>
                  <a:srgbClr val="00F2FF"/>
                </a:solidFill>
                <a:latin typeface="Space Grotesk"/>
              </a:rPr>
              <a:t>03 · АУДИТОРИЯ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868680"/>
            <a:ext cx="1051560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600" b="0" i="0">
                <a:solidFill>
                  <a:srgbClr val="FFFFFF"/>
                </a:solidFill>
                <a:latin typeface="Space Grotesk"/>
              </a:rPr>
              <a:t>Поколения, для которых</a:t>
            </a:r>
          </a:p>
          <a:p>
            <a:pPr algn="l">
              <a:lnSpc>
                <a:spcPct val="105000"/>
              </a:lnSpc>
            </a:pPr>
            <a:r>
              <a:rPr sz="3600" b="0" i="0">
                <a:solidFill>
                  <a:srgbClr val="FFFFFF"/>
                </a:solidFill>
                <a:latin typeface="Space Grotesk"/>
              </a:rPr>
              <a:t>виртуальное = реальное.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3238960"/>
            <a:ext cx="137160" cy="15000"/>
          </a:xfrm>
          <a:prstGeom prst="rect">
            <a:avLst/>
          </a:prstGeom>
          <a:solidFill>
            <a:srgbClr val="00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3108960"/>
            <a:ext cx="54864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400" b="0" i="0">
                <a:solidFill>
                  <a:srgbClr val="E2E8F0"/>
                </a:solidFill>
                <a:latin typeface="Inter"/>
              </a:rPr>
              <a:t>Целевая аудитория v-commerce — </a:t>
            </a:r>
            <a:r>
              <a:rPr sz="1400" b="1" i="0">
                <a:solidFill>
                  <a:srgbClr val="00F2FF"/>
                </a:solidFill>
                <a:latin typeface="Inter"/>
              </a:rPr>
              <a:t>Gen Z</a:t>
            </a:r>
            <a:r>
              <a:rPr sz="1400" b="0" i="0">
                <a:solidFill>
                  <a:srgbClr val="E2E8F0"/>
                </a:solidFill>
                <a:latin typeface="Inter"/>
              </a:rPr>
              <a:t> и </a:t>
            </a:r>
            <a:r>
              <a:rPr sz="1400" b="1" i="0">
                <a:solidFill>
                  <a:srgbClr val="00F2FF"/>
                </a:solidFill>
                <a:latin typeface="Inter"/>
              </a:rPr>
              <a:t>Gen Alpha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2960" y="4016200"/>
            <a:ext cx="137160" cy="15000"/>
          </a:xfrm>
          <a:prstGeom prst="rect">
            <a:avLst/>
          </a:prstGeom>
          <a:solidFill>
            <a:srgbClr val="00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97280" y="3886200"/>
            <a:ext cx="54864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400" b="0" i="0">
                <a:solidFill>
                  <a:srgbClr val="E2E8F0"/>
                </a:solidFill>
                <a:latin typeface="Inter"/>
              </a:rPr>
              <a:t>Они проводят в виртуальных мирах больше времени, </a:t>
            </a:r>
            <a:r>
              <a:rPr sz="1400" b="1" i="0">
                <a:solidFill>
                  <a:srgbClr val="FFFFFF"/>
                </a:solidFill>
                <a:latin typeface="Inter"/>
              </a:rPr>
              <a:t>чем в торговых центрах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2960" y="4793440"/>
            <a:ext cx="137160" cy="15000"/>
          </a:xfrm>
          <a:prstGeom prst="rect">
            <a:avLst/>
          </a:prstGeom>
          <a:solidFill>
            <a:srgbClr val="00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97280" y="4663440"/>
            <a:ext cx="54864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400" b="0" i="0">
                <a:solidFill>
                  <a:srgbClr val="E2E8F0"/>
                </a:solidFill>
                <a:latin typeface="Inter"/>
              </a:rPr>
              <a:t>Для бизнеса это </a:t>
            </a:r>
            <a:r>
              <a:rPr sz="1400" b="1" i="0">
                <a:solidFill>
                  <a:srgbClr val="FFFFFF"/>
                </a:solidFill>
                <a:latin typeface="Inter"/>
              </a:rPr>
              <a:t>не игрушка</a:t>
            </a:r>
            <a:r>
              <a:rPr sz="1400" b="0" i="0">
                <a:solidFill>
                  <a:srgbClr val="E2E8F0"/>
                </a:solidFill>
                <a:latin typeface="Inter"/>
              </a:rPr>
              <a:t>, а способ присутствия там, где живёт аудитория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0" y="2926080"/>
            <a:ext cx="1828800" cy="2011680"/>
          </a:xfrm>
          <a:prstGeom prst="roundRect">
            <a:avLst>
              <a:gd name="adj" fmla="val 6000"/>
            </a:avLst>
          </a:prstGeom>
          <a:solidFill>
            <a:srgbClr val="101622"/>
          </a:solidFill>
          <a:ln w="6350">
            <a:solidFill>
              <a:srgbClr val="00F2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0" y="3200400"/>
            <a:ext cx="182880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7200" b="0" i="0">
                <a:solidFill>
                  <a:srgbClr val="00F2FF"/>
                </a:solidFill>
                <a:latin typeface="Space Grotesk"/>
              </a:rPr>
              <a:t>Z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0" y="4389120"/>
            <a:ext cx="1828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800" b="0" i="0" spc="400">
                <a:solidFill>
                  <a:srgbClr val="94A3B8"/>
                </a:solidFill>
                <a:latin typeface="Space Grotesk"/>
              </a:rPr>
              <a:t>GENERATION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418320" y="2926080"/>
            <a:ext cx="1828800" cy="2011680"/>
          </a:xfrm>
          <a:prstGeom prst="roundRect">
            <a:avLst>
              <a:gd name="adj" fmla="val 6000"/>
            </a:avLst>
          </a:prstGeom>
          <a:solidFill>
            <a:srgbClr val="101622"/>
          </a:solidFill>
          <a:ln w="6350">
            <a:solidFill>
              <a:srgbClr val="9D4E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418320" y="3200400"/>
            <a:ext cx="182880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7200" b="0" i="0">
                <a:solidFill>
                  <a:srgbClr val="9D4EDD"/>
                </a:solidFill>
                <a:latin typeface="Space Grotesk"/>
              </a:rPr>
              <a:t>α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418320" y="4389120"/>
            <a:ext cx="1828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800" b="0" i="0" spc="400">
                <a:solidFill>
                  <a:srgbClr val="94A3B8"/>
                </a:solidFill>
                <a:latin typeface="Space Grotesk"/>
              </a:rPr>
              <a:t>GENERATION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B1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2743200" y="-2743200"/>
            <a:ext cx="7315200" cy="7315200"/>
          </a:xfrm>
          <a:prstGeom prst="ellipse">
            <a:avLst/>
          </a:prstGeom>
          <a:solidFill>
            <a:srgbClr val="00F2FF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315200" y="3657600"/>
            <a:ext cx="7315200" cy="7315200"/>
          </a:xfrm>
          <a:prstGeom prst="ellipse">
            <a:avLst/>
          </a:prstGeom>
          <a:solidFill>
            <a:srgbClr val="9D4EDD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20000"/>
          </a:xfrm>
          <a:prstGeom prst="rect">
            <a:avLst/>
          </a:prstGeom>
          <a:solidFill>
            <a:srgbClr val="1F26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4063898" cy="20000"/>
          </a:xfrm>
          <a:prstGeom prst="rect">
            <a:avLst/>
          </a:prstGeom>
          <a:solidFill>
            <a:srgbClr val="00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8288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0" i="0">
                <a:solidFill>
                  <a:srgbClr val="00F2FF"/>
                </a:solidFill>
                <a:latin typeface="Space Grotesk"/>
              </a:rPr>
              <a:t>V·</a:t>
            </a:r>
            <a:r>
              <a:rPr sz="800" b="0" i="0">
                <a:solidFill>
                  <a:srgbClr val="94A3B8"/>
                </a:solidFill>
                <a:latin typeface="Space Grotesk"/>
              </a:rPr>
              <a:t>COMMERCE ·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4652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 i="0" spc="200">
                <a:solidFill>
                  <a:srgbClr val="94A3B8"/>
                </a:solidFill>
                <a:latin typeface="Space Grotesk"/>
              </a:rPr>
              <a:t>05 / 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50292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 spc="350">
                <a:solidFill>
                  <a:srgbClr val="6B7280"/>
                </a:solidFill>
                <a:latin typeface="Space Grotesk"/>
              </a:rPr>
              <a:t>04 · РЕАЛИТИ-ЧЕК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868680"/>
            <a:ext cx="1051560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600" b="0" i="0">
                <a:solidFill>
                  <a:srgbClr val="FFFFFF"/>
                </a:solidFill>
                <a:latin typeface="Space Grotesk"/>
              </a:rPr>
              <a:t>Прежде чем говорить об успехе —</a:t>
            </a:r>
          </a:p>
          <a:p>
            <a:pPr algn="l">
              <a:lnSpc>
                <a:spcPct val="105000"/>
              </a:lnSpc>
            </a:pPr>
            <a:r>
              <a:rPr sz="3600" b="0" i="0">
                <a:solidFill>
                  <a:srgbClr val="FFFFFF"/>
                </a:solidFill>
                <a:latin typeface="Space Grotesk"/>
              </a:rPr>
              <a:t>поговорим о провале.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3127520"/>
            <a:ext cx="137160" cy="15000"/>
          </a:xfrm>
          <a:prstGeom prst="rect">
            <a:avLst/>
          </a:prstGeom>
          <a:solidFill>
            <a:srgbClr val="00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3017520"/>
            <a:ext cx="100584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E2E8F0"/>
                </a:solidFill>
                <a:latin typeface="Inter"/>
              </a:rPr>
              <a:t>2021–2022: вокруг метавселенных надулся </a:t>
            </a:r>
            <a:r>
              <a:rPr sz="1400" b="1" i="0">
                <a:solidFill>
                  <a:srgbClr val="FFFFFF"/>
                </a:solidFill>
                <a:latin typeface="Inter"/>
              </a:rPr>
              <a:t>огромный пузырь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2960" y="3767600"/>
            <a:ext cx="137160" cy="15000"/>
          </a:xfrm>
          <a:prstGeom prst="rect">
            <a:avLst/>
          </a:prstGeom>
          <a:solidFill>
            <a:srgbClr val="00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97280" y="3657600"/>
            <a:ext cx="100584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E2E8F0"/>
                </a:solidFill>
                <a:latin typeface="Inter"/>
              </a:rPr>
              <a:t>Главное лицо хайпа — </a:t>
            </a:r>
            <a:r>
              <a:rPr sz="1400" b="1" i="0">
                <a:solidFill>
                  <a:srgbClr val="FFFFFF"/>
                </a:solidFill>
                <a:latin typeface="Inter"/>
              </a:rPr>
              <a:t>Марк Цукерберг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2960" y="4407679"/>
            <a:ext cx="137160" cy="15000"/>
          </a:xfrm>
          <a:prstGeom prst="rect">
            <a:avLst/>
          </a:prstGeom>
          <a:solidFill>
            <a:srgbClr val="00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97280" y="4297679"/>
            <a:ext cx="100584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E2E8F0"/>
                </a:solidFill>
                <a:latin typeface="Inter"/>
              </a:rPr>
              <a:t>Стратегический вопрос: концепция мертва — или мертва конкретная реализация?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" y="5120640"/>
            <a:ext cx="7772400" cy="1188720"/>
          </a:xfrm>
          <a:prstGeom prst="roundRect">
            <a:avLst>
              <a:gd name="adj" fmla="val 6000"/>
            </a:avLst>
          </a:prstGeom>
          <a:solidFill>
            <a:srgbClr val="101622"/>
          </a:solidFill>
          <a:ln w="6350">
            <a:solidFill>
              <a:srgbClr val="00F2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51560" y="5349240"/>
            <a:ext cx="2743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800" b="0" i="0">
                <a:solidFill>
                  <a:srgbClr val="00F2FF"/>
                </a:solidFill>
                <a:latin typeface="Space Grotesk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5394960"/>
            <a:ext cx="6858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 i="1">
                <a:solidFill>
                  <a:srgbClr val="E2E8F0"/>
                </a:solidFill>
                <a:latin typeface="Inter"/>
              </a:rPr>
              <a:t>Концепция метавселенных мертва.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5852160"/>
            <a:ext cx="6858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 i="0" spc="350">
                <a:solidFill>
                  <a:srgbClr val="6B7280"/>
                </a:solidFill>
                <a:latin typeface="Space Grotesk"/>
              </a:rPr>
              <a:t>— АНАЛИТИКИ, 2022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D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000"/>
          </a:xfrm>
          <a:prstGeom prst="rect">
            <a:avLst/>
          </a:prstGeom>
          <a:solidFill>
            <a:srgbClr val="1F26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876678" cy="20000"/>
          </a:xfrm>
          <a:prstGeom prst="rect">
            <a:avLst/>
          </a:prstGeom>
          <a:solidFill>
            <a:srgbClr val="00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0" i="0">
                <a:solidFill>
                  <a:srgbClr val="00F2FF"/>
                </a:solidFill>
                <a:latin typeface="Space Grotesk"/>
              </a:rPr>
              <a:t>V·</a:t>
            </a:r>
            <a:r>
              <a:rPr sz="800" b="0" i="0">
                <a:solidFill>
                  <a:srgbClr val="94A3B8"/>
                </a:solidFill>
                <a:latin typeface="Space Grotesk"/>
              </a:rPr>
              <a:t>COMMERCE ·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644652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 i="0" spc="200">
                <a:solidFill>
                  <a:srgbClr val="94A3B8"/>
                </a:solidFill>
                <a:latin typeface="Space Grotesk"/>
              </a:rPr>
              <a:t>06 / 15</a:t>
            </a:r>
          </a:p>
        </p:txBody>
      </p:sp>
      <p:sp>
        <p:nvSpPr>
          <p:cNvPr id="6" name="Oval 5"/>
          <p:cNvSpPr/>
          <p:nvPr/>
        </p:nvSpPr>
        <p:spPr>
          <a:xfrm>
            <a:off x="1828800" y="1828800"/>
            <a:ext cx="8229600" cy="4572000"/>
          </a:xfrm>
          <a:prstGeom prst="ellipse">
            <a:avLst/>
          </a:prstGeom>
          <a:solidFill>
            <a:srgbClr val="6B7280">
              <a:alpha val="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50292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 spc="350">
                <a:solidFill>
                  <a:srgbClr val="4B5563"/>
                </a:solidFill>
                <a:latin typeface="Space Grotesk"/>
              </a:rPr>
              <a:t>05 · КЕЙС ПРОВАЛА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868680"/>
            <a:ext cx="1051560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600" b="0" i="0">
                <a:solidFill>
                  <a:srgbClr val="9CA3AF"/>
                </a:solidFill>
                <a:latin typeface="Space Grotesk"/>
              </a:rPr>
              <a:t>Horizon Worlds.</a:t>
            </a:r>
          </a:p>
          <a:p>
            <a:pPr algn="l">
              <a:lnSpc>
                <a:spcPct val="105000"/>
              </a:lnSpc>
            </a:pPr>
            <a:r>
              <a:rPr sz="3600" b="0" i="0">
                <a:solidFill>
                  <a:srgbClr val="9CA3AF"/>
                </a:solidFill>
                <a:latin typeface="Space Grotesk"/>
              </a:rPr>
              <a:t>Урок на десятки миллиардов.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0" y="3108960"/>
            <a:ext cx="12191695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4000" b="0" i="0" spc="2000">
                <a:solidFill>
                  <a:srgbClr val="4B5563"/>
                </a:solidFill>
                <a:latin typeface="Space Grotesk"/>
              </a:rPr>
              <a:t>· · · · ·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4114800"/>
            <a:ext cx="3520440" cy="2286000"/>
          </a:xfrm>
          <a:prstGeom prst="roundRect">
            <a:avLst>
              <a:gd name="adj" fmla="val 6000"/>
            </a:avLst>
          </a:prstGeom>
          <a:solidFill>
            <a:srgbClr val="12151C"/>
          </a:solidFill>
          <a:ln w="6350">
            <a:solidFill>
              <a:srgbClr val="1F26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4297680"/>
            <a:ext cx="2971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0" i="0">
                <a:solidFill>
                  <a:srgbClr val="4B5563"/>
                </a:solidFill>
                <a:latin typeface="Space Grotesk"/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4754880"/>
            <a:ext cx="2971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 i="0">
                <a:solidFill>
                  <a:srgbClr val="6B7280"/>
                </a:solidFill>
                <a:latin typeface="Space Grotesk"/>
              </a:rPr>
              <a:t>Renaming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5212080"/>
            <a:ext cx="29718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6B7280"/>
                </a:solidFill>
                <a:latin typeface="Inter"/>
              </a:rPr>
              <a:t>Facebook → Meta. Десятки миллиардов долларов в собственную метавселенную.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26280" y="4114800"/>
            <a:ext cx="3520440" cy="2286000"/>
          </a:xfrm>
          <a:prstGeom prst="roundRect">
            <a:avLst>
              <a:gd name="adj" fmla="val 6000"/>
            </a:avLst>
          </a:prstGeom>
          <a:solidFill>
            <a:srgbClr val="12151C"/>
          </a:solidFill>
          <a:ln w="6350">
            <a:solidFill>
              <a:srgbClr val="1F26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800600" y="4297680"/>
            <a:ext cx="2971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0" i="0">
                <a:solidFill>
                  <a:srgbClr val="4B5563"/>
                </a:solidFill>
                <a:latin typeface="Space Grotesk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00600" y="4754880"/>
            <a:ext cx="2971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 i="0">
                <a:solidFill>
                  <a:srgbClr val="6B7280"/>
                </a:solidFill>
                <a:latin typeface="Space Grotesk"/>
              </a:rPr>
              <a:t>Результат 2022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00600" y="5212080"/>
            <a:ext cx="29718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6B7280"/>
                </a:solidFill>
                <a:latin typeface="Inter"/>
              </a:rPr>
              <a:t>Пустые миры, слабая графика, над которой смеялся весь интернет.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29600" y="4114800"/>
            <a:ext cx="3520440" cy="2286000"/>
          </a:xfrm>
          <a:prstGeom prst="roundRect">
            <a:avLst>
              <a:gd name="adj" fmla="val 6000"/>
            </a:avLst>
          </a:prstGeom>
          <a:solidFill>
            <a:srgbClr val="12151C"/>
          </a:solidFill>
          <a:ln w="6350">
            <a:solidFill>
              <a:srgbClr val="1F26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503920" y="4297680"/>
            <a:ext cx="2971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0" i="0">
                <a:solidFill>
                  <a:srgbClr val="4B5563"/>
                </a:solidFill>
                <a:latin typeface="Space Grotesk"/>
              </a:rP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03920" y="4754880"/>
            <a:ext cx="2971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 i="0">
                <a:solidFill>
                  <a:srgbClr val="6B7280"/>
                </a:solidFill>
                <a:latin typeface="Space Grotesk"/>
              </a:rPr>
              <a:t>Финансы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03920" y="5212080"/>
            <a:ext cx="29718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6B7280"/>
                </a:solidFill>
                <a:latin typeface="Inter"/>
              </a:rPr>
              <a:t>Гигантские убытки, жёсткое падение акций. Вывод аналитиков: «концепция мертва».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B1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2743200" y="-2743200"/>
            <a:ext cx="7315200" cy="7315200"/>
          </a:xfrm>
          <a:prstGeom prst="ellipse">
            <a:avLst/>
          </a:prstGeom>
          <a:solidFill>
            <a:srgbClr val="00F2FF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315200" y="3657600"/>
            <a:ext cx="7315200" cy="7315200"/>
          </a:xfrm>
          <a:prstGeom prst="ellipse">
            <a:avLst/>
          </a:prstGeom>
          <a:solidFill>
            <a:srgbClr val="9D4EDD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20000"/>
          </a:xfrm>
          <a:prstGeom prst="rect">
            <a:avLst/>
          </a:prstGeom>
          <a:solidFill>
            <a:srgbClr val="1F26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5689457" cy="20000"/>
          </a:xfrm>
          <a:prstGeom prst="rect">
            <a:avLst/>
          </a:prstGeom>
          <a:solidFill>
            <a:srgbClr val="00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8288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0" i="0">
                <a:solidFill>
                  <a:srgbClr val="00F2FF"/>
                </a:solidFill>
                <a:latin typeface="Space Grotesk"/>
              </a:rPr>
              <a:t>V·</a:t>
            </a:r>
            <a:r>
              <a:rPr sz="800" b="0" i="0">
                <a:solidFill>
                  <a:srgbClr val="94A3B8"/>
                </a:solidFill>
                <a:latin typeface="Space Grotesk"/>
              </a:rPr>
              <a:t>COMMERCE ·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4652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 i="0" spc="200">
                <a:solidFill>
                  <a:srgbClr val="94A3B8"/>
                </a:solidFill>
                <a:latin typeface="Space Grotesk"/>
              </a:rPr>
              <a:t>07 / 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50292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 spc="350">
                <a:solidFill>
                  <a:srgbClr val="00F2FF"/>
                </a:solidFill>
                <a:latin typeface="Space Grotesk"/>
              </a:rPr>
              <a:t>06 · ГЛАВНЫЙ УРОК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868680"/>
            <a:ext cx="1051560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400" b="0" i="0">
                <a:solidFill>
                  <a:srgbClr val="FFFFFF"/>
                </a:solidFill>
                <a:latin typeface="Space Grotesk"/>
              </a:rPr>
              <a:t>Нельзя навязать пользователям</a:t>
            </a:r>
          </a:p>
          <a:p>
            <a:pPr algn="l">
              <a:lnSpc>
                <a:spcPct val="105000"/>
              </a:lnSpc>
            </a:pPr>
            <a:r>
              <a:rPr sz="3400" b="0" i="0">
                <a:solidFill>
                  <a:srgbClr val="FFFFFF"/>
                </a:solidFill>
                <a:latin typeface="Space Grotesk"/>
              </a:rPr>
              <a:t>пустой мир «сверху».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2926080"/>
            <a:ext cx="5029200" cy="3383280"/>
          </a:xfrm>
          <a:prstGeom prst="roundRect">
            <a:avLst>
              <a:gd name="adj" fmla="val 6000"/>
            </a:avLst>
          </a:prstGeom>
          <a:solidFill>
            <a:srgbClr val="12151C"/>
          </a:solidFill>
          <a:ln w="6350">
            <a:solidFill>
              <a:srgbClr val="1F26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3154680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 i="0" spc="350">
                <a:solidFill>
                  <a:srgbClr val="6B7280"/>
                </a:solidFill>
                <a:latin typeface="Space Grotesk"/>
              </a:rPr>
              <a:t>ПУТЬ META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3611880"/>
            <a:ext cx="45720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0" i="0">
                <a:solidFill>
                  <a:srgbClr val="6B7280"/>
                </a:solidFill>
                <a:latin typeface="Space Grotesk"/>
              </a:rPr>
              <a:t>Построить платформу с нуля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4526280"/>
            <a:ext cx="457200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200" b="0" i="0">
                <a:solidFill>
                  <a:srgbClr val="6B7280"/>
                </a:solidFill>
                <a:latin typeface="Inter"/>
              </a:rPr>
              <a:t>Создать мир «сверху» и надеяться, что в него придут пользователи. Итог — пустые виртуальные пространства.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5669280"/>
            <a:ext cx="9144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800" b="0" i="0">
                <a:solidFill>
                  <a:srgbClr val="6B7280"/>
                </a:solidFill>
                <a:latin typeface="Space Grotesk"/>
              </a:rPr>
              <a:t>↓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09360" y="2926080"/>
            <a:ext cx="5029200" cy="3383280"/>
          </a:xfrm>
          <a:prstGeom prst="roundRect">
            <a:avLst>
              <a:gd name="adj" fmla="val 6000"/>
            </a:avLst>
          </a:prstGeom>
          <a:solidFill>
            <a:srgbClr val="101622"/>
          </a:solidFill>
          <a:ln w="6350">
            <a:solidFill>
              <a:srgbClr val="00F2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83680" y="3154680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 i="0" spc="350">
                <a:solidFill>
                  <a:srgbClr val="00F2FF"/>
                </a:solidFill>
                <a:latin typeface="Space Grotesk"/>
              </a:rPr>
              <a:t>ПУТЬ БРЕНДОВ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0" y="3611880"/>
            <a:ext cx="45720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0" i="0">
                <a:solidFill>
                  <a:srgbClr val="FFFFFF"/>
                </a:solidFill>
                <a:latin typeface="Space Grotesk"/>
              </a:rPr>
              <a:t>Прийти туда, где уже есть аудитория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0" y="4526280"/>
            <a:ext cx="457200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200" b="0" i="0">
                <a:solidFill>
                  <a:srgbClr val="E2E8F0"/>
                </a:solidFill>
                <a:latin typeface="Inter"/>
              </a:rPr>
              <a:t>Roblox · Fortnite · Sandbox — живые игровые метавселенные с многомиллионной аудиторией.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0" y="5669280"/>
            <a:ext cx="9144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800" b="0" i="0">
                <a:solidFill>
                  <a:srgbClr val="00F2FF"/>
                </a:solidFill>
                <a:latin typeface="Space Grotesk"/>
              </a:rPr>
              <a:t>↑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B1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2743200" y="-2743200"/>
            <a:ext cx="7315200" cy="7315200"/>
          </a:xfrm>
          <a:prstGeom prst="ellipse">
            <a:avLst/>
          </a:prstGeom>
          <a:solidFill>
            <a:srgbClr val="9D4EDD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315200" y="3657600"/>
            <a:ext cx="7315200" cy="7315200"/>
          </a:xfrm>
          <a:prstGeom prst="ellipse">
            <a:avLst/>
          </a:prstGeom>
          <a:solidFill>
            <a:srgbClr val="9D4EDD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20000"/>
          </a:xfrm>
          <a:prstGeom prst="rect">
            <a:avLst/>
          </a:prstGeom>
          <a:solidFill>
            <a:srgbClr val="1F26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6502237" cy="20000"/>
          </a:xfrm>
          <a:prstGeom prst="rect">
            <a:avLst/>
          </a:prstGeom>
          <a:solidFill>
            <a:srgbClr val="00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8288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0" i="0">
                <a:solidFill>
                  <a:srgbClr val="00F2FF"/>
                </a:solidFill>
                <a:latin typeface="Space Grotesk"/>
              </a:rPr>
              <a:t>V·</a:t>
            </a:r>
            <a:r>
              <a:rPr sz="800" b="0" i="0">
                <a:solidFill>
                  <a:srgbClr val="94A3B8"/>
                </a:solidFill>
                <a:latin typeface="Space Grotesk"/>
              </a:rPr>
              <a:t>COMMERCE ·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4652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 i="0" spc="200">
                <a:solidFill>
                  <a:srgbClr val="94A3B8"/>
                </a:solidFill>
                <a:latin typeface="Space Grotesk"/>
              </a:rPr>
              <a:t>08 / 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50292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 spc="350">
                <a:solidFill>
                  <a:srgbClr val="9D4EDD"/>
                </a:solidFill>
                <a:latin typeface="Space Grotesk"/>
              </a:rPr>
              <a:t>07 · КЕЙС GUCCI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868680"/>
            <a:ext cx="1051560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400" b="0" i="0">
                <a:solidFill>
                  <a:srgbClr val="FFFFFF"/>
                </a:solidFill>
                <a:latin typeface="Space Grotesk"/>
              </a:rPr>
              <a:t>Gucci Town.</a:t>
            </a:r>
          </a:p>
          <a:p>
            <a:pPr algn="l">
              <a:lnSpc>
                <a:spcPct val="105000"/>
              </a:lnSpc>
            </a:pPr>
            <a:r>
              <a:rPr sz="3400" b="0" i="0">
                <a:solidFill>
                  <a:srgbClr val="FFFFFF"/>
                </a:solidFill>
                <a:latin typeface="Space Grotesk"/>
              </a:rPr>
              <a:t>Когда пиксели стоят дороже кожи.</a:t>
            </a:r>
          </a:p>
        </p:txBody>
      </p:sp>
      <p:sp>
        <p:nvSpPr>
          <p:cNvPr id="10" name="Oval 9"/>
          <p:cNvSpPr/>
          <p:nvPr/>
        </p:nvSpPr>
        <p:spPr>
          <a:xfrm>
            <a:off x="914400" y="3108960"/>
            <a:ext cx="3931920" cy="3931920"/>
          </a:xfrm>
          <a:prstGeom prst="ellipse">
            <a:avLst/>
          </a:prstGeom>
          <a:solidFill>
            <a:srgbClr val="9D4EDD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4114800"/>
            <a:ext cx="393192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3000" b="0" i="0">
                <a:solidFill>
                  <a:srgbClr val="9D4EDD"/>
                </a:solidFill>
                <a:latin typeface="Space Grotesk"/>
              </a:rPr>
              <a:t>◆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0" y="2926080"/>
            <a:ext cx="5852160" cy="1280160"/>
          </a:xfrm>
          <a:prstGeom prst="roundRect">
            <a:avLst>
              <a:gd name="adj" fmla="val 6000"/>
            </a:avLst>
          </a:prstGeom>
          <a:solidFill>
            <a:srgbClr val="101622"/>
          </a:solidFill>
          <a:ln w="6350">
            <a:solidFill>
              <a:srgbClr val="9D4E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760720" y="3063240"/>
            <a:ext cx="5303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 spc="350">
                <a:solidFill>
                  <a:srgbClr val="9D4EDD"/>
                </a:solidFill>
                <a:latin typeface="Space Grotesk"/>
              </a:rPr>
              <a:t>ПЛАТФОРМА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760720" y="3429000"/>
            <a:ext cx="53035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 i="0">
                <a:solidFill>
                  <a:srgbClr val="E2E8F0"/>
                </a:solidFill>
                <a:latin typeface="Inter"/>
              </a:rPr>
              <a:t>Постоянное пространство </a:t>
            </a:r>
            <a:r>
              <a:rPr sz="1300" b="1" i="0">
                <a:solidFill>
                  <a:srgbClr val="FFFFFF"/>
                </a:solidFill>
                <a:latin typeface="Inter"/>
              </a:rPr>
              <a:t>Gucci Town в Roblox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0" y="4389120"/>
            <a:ext cx="5852160" cy="1280160"/>
          </a:xfrm>
          <a:prstGeom prst="roundRect">
            <a:avLst>
              <a:gd name="adj" fmla="val 6000"/>
            </a:avLst>
          </a:prstGeom>
          <a:solidFill>
            <a:srgbClr val="101622"/>
          </a:solidFill>
          <a:ln w="6350">
            <a:solidFill>
              <a:srgbClr val="9D4E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760720" y="4526280"/>
            <a:ext cx="5303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 spc="350">
                <a:solidFill>
                  <a:srgbClr val="9D4EDD"/>
                </a:solidFill>
                <a:latin typeface="Space Grotesk"/>
              </a:rPr>
              <a:t>МЕХАНИКА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760720" y="4892040"/>
            <a:ext cx="53035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0" i="0">
                <a:solidFill>
                  <a:srgbClr val="E2E8F0"/>
                </a:solidFill>
                <a:latin typeface="Inter"/>
              </a:rPr>
              <a:t>Мини-игры, общение, покупка </a:t>
            </a:r>
            <a:r>
              <a:rPr sz="1300" b="1" i="0">
                <a:solidFill>
                  <a:srgbClr val="FFFFFF"/>
                </a:solidFill>
                <a:latin typeface="Inter"/>
              </a:rPr>
              <a:t>цифрового мерча</a:t>
            </a:r>
            <a:r>
              <a:rPr sz="1300" b="0" i="0">
                <a:solidFill>
                  <a:srgbClr val="E2E8F0"/>
                </a:solidFill>
                <a:latin typeface="Inter"/>
              </a:rPr>
              <a:t> за внутреннюю валюту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0" y="5852160"/>
            <a:ext cx="36576" cy="640080"/>
          </a:xfrm>
          <a:prstGeom prst="rect">
            <a:avLst/>
          </a:prstGeom>
          <a:solidFill>
            <a:srgbClr val="9D4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669280" y="5852160"/>
            <a:ext cx="566928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 i="1">
                <a:solidFill>
                  <a:srgbClr val="E2E8F0"/>
                </a:solidFill>
                <a:latin typeface="Inter"/>
              </a:rPr>
              <a:t>Цифровая копия сумки </a:t>
            </a:r>
            <a:r>
              <a:rPr sz="1100" b="1" i="1">
                <a:solidFill>
                  <a:srgbClr val="FFFFFF"/>
                </a:solidFill>
                <a:latin typeface="Inter"/>
              </a:rPr>
              <a:t>Gucci Queen Bee</a:t>
            </a:r>
            <a:r>
              <a:rPr sz="1100" b="0" i="1">
                <a:solidFill>
                  <a:srgbClr val="E2E8F0"/>
                </a:solidFill>
                <a:latin typeface="Inter"/>
              </a:rPr>
              <a:t> перепродана </a:t>
            </a:r>
            <a:r>
              <a:rPr sz="1100" b="1" i="1">
                <a:solidFill>
                  <a:srgbClr val="9D4EDD"/>
                </a:solidFill>
                <a:latin typeface="Inter"/>
              </a:rPr>
              <a:t>дороже реальной физической</a:t>
            </a:r>
            <a:r>
              <a:rPr sz="1100" b="0" i="1">
                <a:solidFill>
                  <a:srgbClr val="E2E8F0"/>
                </a:solidFill>
                <a:latin typeface="Inter"/>
              </a:rPr>
              <a:t> в рознице.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B1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2743200" y="-2743200"/>
            <a:ext cx="7315200" cy="7315200"/>
          </a:xfrm>
          <a:prstGeom prst="ellipse">
            <a:avLst/>
          </a:prstGeom>
          <a:solidFill>
            <a:srgbClr val="9D4EDD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315200" y="3657600"/>
            <a:ext cx="7315200" cy="7315200"/>
          </a:xfrm>
          <a:prstGeom prst="ellipse">
            <a:avLst/>
          </a:prstGeom>
          <a:solidFill>
            <a:srgbClr val="9D4EDD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20000"/>
          </a:xfrm>
          <a:prstGeom prst="rect">
            <a:avLst/>
          </a:prstGeom>
          <a:solidFill>
            <a:srgbClr val="1F26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7315017" cy="20000"/>
          </a:xfrm>
          <a:prstGeom prst="rect">
            <a:avLst/>
          </a:prstGeom>
          <a:solidFill>
            <a:srgbClr val="00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8288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0" i="0">
                <a:solidFill>
                  <a:srgbClr val="00F2FF"/>
                </a:solidFill>
                <a:latin typeface="Space Grotesk"/>
              </a:rPr>
              <a:t>V·</a:t>
            </a:r>
            <a:r>
              <a:rPr sz="800" b="0" i="0">
                <a:solidFill>
                  <a:srgbClr val="94A3B8"/>
                </a:solidFill>
                <a:latin typeface="Space Grotesk"/>
              </a:rPr>
              <a:t>COMMERCE ·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4652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 i="0" spc="200">
                <a:solidFill>
                  <a:srgbClr val="94A3B8"/>
                </a:solidFill>
                <a:latin typeface="Space Grotesk"/>
              </a:rPr>
              <a:t>09 / 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50292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 spc="350">
                <a:solidFill>
                  <a:srgbClr val="9D4EDD"/>
                </a:solidFill>
                <a:latin typeface="Space Grotesk"/>
              </a:rPr>
              <a:t>08 · ЭКОНОМИКА АВАТАРОВ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868680"/>
            <a:ext cx="1051560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400" b="0" i="0">
                <a:solidFill>
                  <a:srgbClr val="FFFFFF"/>
                </a:solidFill>
                <a:latin typeface="Space Grotesk"/>
              </a:rPr>
              <a:t>Аватар — это продолжение личности.</a:t>
            </a:r>
          </a:p>
        </p:txBody>
      </p:sp>
      <p:sp>
        <p:nvSpPr>
          <p:cNvPr id="10" name="Oval 9"/>
          <p:cNvSpPr/>
          <p:nvPr/>
        </p:nvSpPr>
        <p:spPr>
          <a:xfrm>
            <a:off x="5212080" y="2743200"/>
            <a:ext cx="1828800" cy="3200400"/>
          </a:xfrm>
          <a:prstGeom prst="ellipse">
            <a:avLst/>
          </a:prstGeom>
          <a:solidFill>
            <a:srgbClr val="9D4EDD">
              <a:alpha val="3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0" y="3291840"/>
            <a:ext cx="2194560" cy="228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0" b="0" i="0">
                <a:solidFill>
                  <a:srgbClr val="9D4EDD"/>
                </a:solidFill>
                <a:latin typeface="Space Grotesk"/>
              </a:rPr>
              <a:t>◊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" y="2926080"/>
            <a:ext cx="2651760" cy="1463040"/>
          </a:xfrm>
          <a:prstGeom prst="roundRect">
            <a:avLst>
              <a:gd name="adj" fmla="val 6000"/>
            </a:avLst>
          </a:prstGeom>
          <a:solidFill>
            <a:srgbClr val="101622"/>
          </a:solidFill>
          <a:ln w="6350">
            <a:solidFill>
              <a:srgbClr val="00F2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51560" y="3108960"/>
            <a:ext cx="2468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 i="0">
                <a:solidFill>
                  <a:srgbClr val="00F2FF"/>
                </a:solidFill>
                <a:latin typeface="Space Grotesk"/>
              </a:rPr>
              <a:t>Самовыражение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1560" y="3520440"/>
            <a:ext cx="246888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94A3B8"/>
                </a:solidFill>
                <a:latin typeface="Inter"/>
              </a:rPr>
              <a:t>Аватар как высказывание о себе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" y="4663440"/>
            <a:ext cx="2651760" cy="1463040"/>
          </a:xfrm>
          <a:prstGeom prst="roundRect">
            <a:avLst>
              <a:gd name="adj" fmla="val 6000"/>
            </a:avLst>
          </a:prstGeom>
          <a:solidFill>
            <a:srgbClr val="101622"/>
          </a:solidFill>
          <a:ln w="6350">
            <a:solidFill>
              <a:srgbClr val="00F2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51560" y="4846320"/>
            <a:ext cx="2468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 i="0">
                <a:solidFill>
                  <a:srgbClr val="00F2FF"/>
                </a:solidFill>
                <a:latin typeface="Space Grotesk"/>
              </a:rPr>
              <a:t>Статус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1560" y="5257800"/>
            <a:ext cx="246888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94A3B8"/>
                </a:solidFill>
                <a:latin typeface="Inter"/>
              </a:rPr>
              <a:t>Виртуальный люкс = реальный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778240" y="2926080"/>
            <a:ext cx="2651760" cy="1463040"/>
          </a:xfrm>
          <a:prstGeom prst="roundRect">
            <a:avLst>
              <a:gd name="adj" fmla="val 6000"/>
            </a:avLst>
          </a:prstGeom>
          <a:solidFill>
            <a:srgbClr val="101622"/>
          </a:solidFill>
          <a:ln w="6350">
            <a:solidFill>
              <a:srgbClr val="00F2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006840" y="3108960"/>
            <a:ext cx="2468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 i="0">
                <a:solidFill>
                  <a:srgbClr val="00F2FF"/>
                </a:solidFill>
                <a:latin typeface="Space Grotesk"/>
              </a:rPr>
              <a:t>Эксклюзивность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06840" y="3520440"/>
            <a:ext cx="246888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94A3B8"/>
                </a:solidFill>
                <a:latin typeface="Inter"/>
              </a:rPr>
              <a:t>Ограниченные дропы, лимиты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778240" y="4663440"/>
            <a:ext cx="2651760" cy="1463040"/>
          </a:xfrm>
          <a:prstGeom prst="roundRect">
            <a:avLst>
              <a:gd name="adj" fmla="val 6000"/>
            </a:avLst>
          </a:prstGeom>
          <a:solidFill>
            <a:srgbClr val="101622"/>
          </a:solidFill>
          <a:ln w="6350">
            <a:solidFill>
              <a:srgbClr val="00F2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006840" y="4846320"/>
            <a:ext cx="2468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 i="0">
                <a:solidFill>
                  <a:srgbClr val="00F2FF"/>
                </a:solidFill>
                <a:latin typeface="Space Grotesk"/>
              </a:rPr>
              <a:t>Идентичность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006840" y="5257800"/>
            <a:ext cx="246888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94A3B8"/>
                </a:solidFill>
                <a:latin typeface="Inter"/>
              </a:rPr>
              <a:t>Продолжение «я» в сети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828800" y="6263640"/>
            <a:ext cx="8503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E2E8F0"/>
                </a:solidFill>
                <a:latin typeface="Inter"/>
              </a:rPr>
              <a:t>Скины и цифровая одежда → </a:t>
            </a:r>
            <a:r>
              <a:rPr sz="1200" b="1" i="0">
                <a:solidFill>
                  <a:srgbClr val="00F2FF"/>
                </a:solidFill>
                <a:latin typeface="Inter"/>
              </a:rPr>
              <a:t>высокомаржинальный бизнес</a:t>
            </a:r>
            <a:r>
              <a:rPr sz="1200" b="0" i="0">
                <a:solidFill>
                  <a:srgbClr val="E2E8F0"/>
                </a:solidFill>
                <a:latin typeface="Inter"/>
              </a:rPr>
              <a:t> без затрат на ткани, логистику и склады.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B1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2743200" y="-2743200"/>
            <a:ext cx="7315200" cy="7315200"/>
          </a:xfrm>
          <a:prstGeom prst="ellipse">
            <a:avLst/>
          </a:prstGeom>
          <a:solidFill>
            <a:srgbClr val="00F2FF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315200" y="3657600"/>
            <a:ext cx="7315200" cy="7315200"/>
          </a:xfrm>
          <a:prstGeom prst="ellipse">
            <a:avLst/>
          </a:prstGeom>
          <a:solidFill>
            <a:srgbClr val="9D4EDD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20000"/>
          </a:xfrm>
          <a:prstGeom prst="rect">
            <a:avLst/>
          </a:prstGeom>
          <a:solidFill>
            <a:srgbClr val="1F26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8127796" cy="20000"/>
          </a:xfrm>
          <a:prstGeom prst="rect">
            <a:avLst/>
          </a:prstGeom>
          <a:solidFill>
            <a:srgbClr val="00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8288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0" i="0">
                <a:solidFill>
                  <a:srgbClr val="00F2FF"/>
                </a:solidFill>
                <a:latin typeface="Space Grotesk"/>
              </a:rPr>
              <a:t>V·</a:t>
            </a:r>
            <a:r>
              <a:rPr sz="800" b="0" i="0">
                <a:solidFill>
                  <a:srgbClr val="94A3B8"/>
                </a:solidFill>
                <a:latin typeface="Space Grotesk"/>
              </a:rPr>
              <a:t>COMMERCE ·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4652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 i="0" spc="200">
                <a:solidFill>
                  <a:srgbClr val="94A3B8"/>
                </a:solidFill>
                <a:latin typeface="Space Grotesk"/>
              </a:rPr>
              <a:t>10 / 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50292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 spc="350">
                <a:solidFill>
                  <a:srgbClr val="00F2FF"/>
                </a:solidFill>
                <a:latin typeface="Space Grotesk"/>
              </a:rPr>
              <a:t>09 · КЕЙС NIKE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868680"/>
            <a:ext cx="1051560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400" b="0" i="0">
                <a:solidFill>
                  <a:srgbClr val="FFFFFF"/>
                </a:solidFill>
                <a:latin typeface="Space Grotesk"/>
              </a:rPr>
              <a:t>Nikeland.</a:t>
            </a:r>
          </a:p>
          <a:p>
            <a:pPr algn="l">
              <a:lnSpc>
                <a:spcPct val="105000"/>
              </a:lnSpc>
            </a:pPr>
            <a:r>
              <a:rPr sz="3400" b="0" i="0">
                <a:solidFill>
                  <a:srgbClr val="FFFFFF"/>
                </a:solidFill>
                <a:latin typeface="Space Grotesk"/>
              </a:rPr>
              <a:t>Метавселенная как примерочная.</a:t>
            </a:r>
          </a:p>
        </p:txBody>
      </p:sp>
      <p:sp>
        <p:nvSpPr>
          <p:cNvPr id="10" name="Oval 9"/>
          <p:cNvSpPr/>
          <p:nvPr/>
        </p:nvSpPr>
        <p:spPr>
          <a:xfrm>
            <a:off x="457200" y="3291840"/>
            <a:ext cx="5486400" cy="2743200"/>
          </a:xfrm>
          <a:prstGeom prst="ellipse">
            <a:avLst/>
          </a:prstGeom>
          <a:solidFill>
            <a:srgbClr val="00F2FF">
              <a:alpha val="1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3108960"/>
            <a:ext cx="5486400" cy="228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0" b="0" i="0">
                <a:solidFill>
                  <a:srgbClr val="00F2FF"/>
                </a:solidFill>
                <a:latin typeface="Space Grotesk"/>
              </a:rPr>
              <a:t>30M+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548640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0" i="0" spc="350">
                <a:solidFill>
                  <a:srgbClr val="94A3B8"/>
                </a:solidFill>
                <a:latin typeface="Space Grotesk"/>
              </a:rPr>
              <a:t>ПОСЕТИТЕЛЕЙ NIKELAND В ROBLOX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0" y="2926080"/>
            <a:ext cx="5029200" cy="960120"/>
          </a:xfrm>
          <a:prstGeom prst="roundRect">
            <a:avLst>
              <a:gd name="adj" fmla="val 6000"/>
            </a:avLst>
          </a:prstGeom>
          <a:solidFill>
            <a:srgbClr val="101622"/>
          </a:solidFill>
          <a:ln w="6350">
            <a:solidFill>
              <a:srgbClr val="00F2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29400" y="3200400"/>
            <a:ext cx="5486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0" i="0">
                <a:solidFill>
                  <a:srgbClr val="00F2FF"/>
                </a:solidFill>
                <a:latin typeface="Space Grotesk"/>
              </a:rPr>
              <a:t>01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0" y="3218688"/>
            <a:ext cx="4114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1" i="0">
                <a:solidFill>
                  <a:srgbClr val="FFFFFF"/>
                </a:solidFill>
                <a:latin typeface="Inter"/>
              </a:rPr>
              <a:t>Примерь</a:t>
            </a:r>
            <a:r>
              <a:rPr sz="1300" b="0" i="0">
                <a:solidFill>
                  <a:srgbClr val="E2E8F0"/>
                </a:solidFill>
                <a:latin typeface="Inter"/>
              </a:rPr>
              <a:t> новые модели кроссовок на аватаре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0" y="4114800"/>
            <a:ext cx="5029200" cy="960120"/>
          </a:xfrm>
          <a:prstGeom prst="roundRect">
            <a:avLst>
              <a:gd name="adj" fmla="val 6000"/>
            </a:avLst>
          </a:prstGeom>
          <a:solidFill>
            <a:srgbClr val="101622"/>
          </a:solidFill>
          <a:ln w="6350">
            <a:solidFill>
              <a:srgbClr val="00F2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29400" y="4389120"/>
            <a:ext cx="5486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0" i="0">
                <a:solidFill>
                  <a:srgbClr val="00F2FF"/>
                </a:solidFill>
                <a:latin typeface="Space Grotesk"/>
              </a:rPr>
              <a:t>02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0" y="4407408"/>
            <a:ext cx="4114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1" i="0">
                <a:solidFill>
                  <a:srgbClr val="FFFFFF"/>
                </a:solidFill>
                <a:latin typeface="Inter"/>
              </a:rPr>
              <a:t>Посмотри в движении</a:t>
            </a:r>
            <a:r>
              <a:rPr sz="1300" b="0" i="0">
                <a:solidFill>
                  <a:srgbClr val="E2E8F0"/>
                </a:solidFill>
                <a:latin typeface="Inter"/>
              </a:rPr>
              <a:t> во время спортивных игр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0" y="5303520"/>
            <a:ext cx="5029200" cy="960120"/>
          </a:xfrm>
          <a:prstGeom prst="roundRect">
            <a:avLst>
              <a:gd name="adj" fmla="val 6000"/>
            </a:avLst>
          </a:prstGeom>
          <a:solidFill>
            <a:srgbClr val="101622"/>
          </a:solidFill>
          <a:ln w="6350">
            <a:solidFill>
              <a:srgbClr val="00F2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629400" y="5577840"/>
            <a:ext cx="5486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0" i="0">
                <a:solidFill>
                  <a:srgbClr val="00F2FF"/>
                </a:solidFill>
                <a:latin typeface="Space Grotesk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0" y="5596128"/>
            <a:ext cx="4114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1" i="0">
                <a:solidFill>
                  <a:srgbClr val="FFFFFF"/>
                </a:solidFill>
                <a:latin typeface="Inter"/>
              </a:rPr>
              <a:t>Купи</a:t>
            </a:r>
            <a:r>
              <a:rPr sz="1300" b="0" i="0">
                <a:solidFill>
                  <a:srgbClr val="E2E8F0"/>
                </a:solidFill>
                <a:latin typeface="Inter"/>
              </a:rPr>
              <a:t> точно такую же физическую пару в реальном мире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B1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2743200" y="-2743200"/>
            <a:ext cx="7315200" cy="7315200"/>
          </a:xfrm>
          <a:prstGeom prst="ellipse">
            <a:avLst/>
          </a:prstGeom>
          <a:solidFill>
            <a:srgbClr val="00F2FF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315200" y="3657600"/>
            <a:ext cx="7315200" cy="7315200"/>
          </a:xfrm>
          <a:prstGeom prst="ellipse">
            <a:avLst/>
          </a:prstGeom>
          <a:solidFill>
            <a:srgbClr val="9D4EDD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20000"/>
          </a:xfrm>
          <a:prstGeom prst="rect">
            <a:avLst/>
          </a:prstGeom>
          <a:solidFill>
            <a:srgbClr val="1F26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8940576" cy="20000"/>
          </a:xfrm>
          <a:prstGeom prst="rect">
            <a:avLst/>
          </a:prstGeom>
          <a:solidFill>
            <a:srgbClr val="00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8288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0" i="0">
                <a:solidFill>
                  <a:srgbClr val="00F2FF"/>
                </a:solidFill>
                <a:latin typeface="Space Grotesk"/>
              </a:rPr>
              <a:t>V·</a:t>
            </a:r>
            <a:r>
              <a:rPr sz="800" b="0" i="0">
                <a:solidFill>
                  <a:srgbClr val="94A3B8"/>
                </a:solidFill>
                <a:latin typeface="Space Grotesk"/>
              </a:rPr>
              <a:t>COMMERCE ·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4652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 i="0" spc="200">
                <a:solidFill>
                  <a:srgbClr val="94A3B8"/>
                </a:solidFill>
                <a:latin typeface="Space Grotesk"/>
              </a:rPr>
              <a:t>11 / 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50292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 spc="350">
                <a:solidFill>
                  <a:srgbClr val="00F2FF"/>
                </a:solidFill>
                <a:latin typeface="Space Grotesk"/>
              </a:rPr>
              <a:t>10 · КЕЙС АВТОПРОМА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868680"/>
            <a:ext cx="1051560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400" b="0" i="0">
                <a:solidFill>
                  <a:srgbClr val="FFFFFF"/>
                </a:solidFill>
                <a:latin typeface="Space Grotesk"/>
              </a:rPr>
              <a:t>Hyundai и BMW.</a:t>
            </a:r>
          </a:p>
          <a:p>
            <a:pPr algn="l">
              <a:lnSpc>
                <a:spcPct val="105000"/>
              </a:lnSpc>
            </a:pPr>
            <a:r>
              <a:rPr sz="3400" b="0" i="0">
                <a:solidFill>
                  <a:srgbClr val="FFFFFF"/>
                </a:solidFill>
                <a:latin typeface="Space Grotesk"/>
              </a:rPr>
              <a:t>Виртуальный шоурум до сделки.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4400" y="3017520"/>
            <a:ext cx="4572000" cy="2377440"/>
          </a:xfrm>
          <a:prstGeom prst="roundRect">
            <a:avLst>
              <a:gd name="adj" fmla="val 6000"/>
            </a:avLst>
          </a:prstGeom>
          <a:solidFill>
            <a:srgbClr val="101622"/>
          </a:solidFill>
          <a:ln w="6350">
            <a:solidFill>
              <a:srgbClr val="00F2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371600" y="3291840"/>
            <a:ext cx="3657600" cy="1828800"/>
          </a:xfrm>
          <a:prstGeom prst="ellipse">
            <a:avLst/>
          </a:prstGeom>
          <a:solidFill>
            <a:srgbClr val="00F2FF">
              <a:alpha val="1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3200400"/>
            <a:ext cx="4572000" cy="2011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0" b="0" i="0">
                <a:solidFill>
                  <a:srgbClr val="00F2FF"/>
                </a:solidFill>
                <a:latin typeface="Space Grotesk"/>
              </a:rPr>
              <a:t>◇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5577840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0" i="0" spc="400">
                <a:solidFill>
                  <a:srgbClr val="94A3B8"/>
                </a:solidFill>
                <a:latin typeface="Space Grotesk"/>
              </a:rPr>
              <a:t>HYUNDAI · BMW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26480" y="3076080"/>
            <a:ext cx="137160" cy="15000"/>
          </a:xfrm>
          <a:prstGeom prst="rect">
            <a:avLst/>
          </a:prstGeom>
          <a:solidFill>
            <a:srgbClr val="00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0" y="2926080"/>
            <a:ext cx="502920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0" i="0">
                <a:solidFill>
                  <a:srgbClr val="E2E8F0"/>
                </a:solidFill>
                <a:latin typeface="Inter"/>
              </a:rPr>
              <a:t>Виртуальные шоурумы с </a:t>
            </a:r>
            <a:r>
              <a:rPr sz="1300" b="1" i="0">
                <a:solidFill>
                  <a:srgbClr val="FFFFFF"/>
                </a:solidFill>
                <a:latin typeface="Inter"/>
              </a:rPr>
              <a:t>кастомной конфигурацией</a:t>
            </a:r>
            <a:r>
              <a:rPr sz="1300" b="0" i="0">
                <a:solidFill>
                  <a:srgbClr val="E2E8F0"/>
                </a:solidFill>
                <a:latin typeface="Inter"/>
              </a:rPr>
              <a:t> автомобиля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126480" y="3853320"/>
            <a:ext cx="137160" cy="15000"/>
          </a:xfrm>
          <a:prstGeom prst="rect">
            <a:avLst/>
          </a:prstGeom>
          <a:solidFill>
            <a:srgbClr val="00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0" y="3703320"/>
            <a:ext cx="502920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0" i="0">
                <a:solidFill>
                  <a:srgbClr val="E2E8F0"/>
                </a:solidFill>
                <a:latin typeface="Inter"/>
              </a:rPr>
              <a:t>Детальное изучение салона в 3D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26480" y="4630560"/>
            <a:ext cx="137160" cy="15000"/>
          </a:xfrm>
          <a:prstGeom prst="rect">
            <a:avLst/>
          </a:prstGeom>
          <a:solidFill>
            <a:srgbClr val="00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0" y="4480560"/>
            <a:ext cx="502920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0" i="0">
                <a:solidFill>
                  <a:srgbClr val="E2E8F0"/>
                </a:solidFill>
                <a:latin typeface="Inter"/>
              </a:rPr>
              <a:t>Интерактивный </a:t>
            </a:r>
            <a:r>
              <a:rPr sz="1300" b="1" i="0">
                <a:solidFill>
                  <a:srgbClr val="FFFFFF"/>
                </a:solidFill>
                <a:latin typeface="Inter"/>
              </a:rPr>
              <a:t>тест-драйв</a:t>
            </a:r>
            <a:r>
              <a:rPr sz="1300" b="0" i="0">
                <a:solidFill>
                  <a:srgbClr val="E2E8F0"/>
                </a:solidFill>
                <a:latin typeface="Inter"/>
              </a:rPr>
              <a:t> на трассах, недоступных в реальности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126480" y="5407800"/>
            <a:ext cx="137160" cy="15000"/>
          </a:xfrm>
          <a:prstGeom prst="rect">
            <a:avLst/>
          </a:prstGeom>
          <a:solidFill>
            <a:srgbClr val="00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0" y="5257800"/>
            <a:ext cx="502920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0" i="0">
                <a:solidFill>
                  <a:srgbClr val="E2E8F0"/>
                </a:solidFill>
                <a:latin typeface="Inter"/>
              </a:rPr>
              <a:t>Эффект: </a:t>
            </a:r>
            <a:r>
              <a:rPr sz="1300" b="1" i="0">
                <a:solidFill>
                  <a:srgbClr val="00F2FF"/>
                </a:solidFill>
                <a:latin typeface="Inter"/>
              </a:rPr>
              <a:t>прогрев → снятие страха покупки → готовая сделка</a:t>
            </a:r>
            <a:r>
              <a:rPr sz="1300" b="0" i="0">
                <a:solidFill>
                  <a:srgbClr val="E2E8F0"/>
                </a:solidFill>
                <a:latin typeface="Inter"/>
              </a:rPr>
              <a:t> в офлайн-дилерском центре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B1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2743200" y="-2743200"/>
            <a:ext cx="7315200" cy="7315200"/>
          </a:xfrm>
          <a:prstGeom prst="ellipse">
            <a:avLst/>
          </a:prstGeom>
          <a:solidFill>
            <a:srgbClr val="00F2FF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315200" y="3657600"/>
            <a:ext cx="7315200" cy="7315200"/>
          </a:xfrm>
          <a:prstGeom prst="ellipse">
            <a:avLst/>
          </a:prstGeom>
          <a:solidFill>
            <a:srgbClr val="9D4EDD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20000"/>
          </a:xfrm>
          <a:prstGeom prst="rect">
            <a:avLst/>
          </a:prstGeom>
          <a:solidFill>
            <a:srgbClr val="1F26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9753356" cy="20000"/>
          </a:xfrm>
          <a:prstGeom prst="rect">
            <a:avLst/>
          </a:prstGeom>
          <a:solidFill>
            <a:srgbClr val="00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8288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0" i="0">
                <a:solidFill>
                  <a:srgbClr val="00F2FF"/>
                </a:solidFill>
                <a:latin typeface="Space Grotesk"/>
              </a:rPr>
              <a:t>V·</a:t>
            </a:r>
            <a:r>
              <a:rPr sz="800" b="0" i="0">
                <a:solidFill>
                  <a:srgbClr val="94A3B8"/>
                </a:solidFill>
                <a:latin typeface="Space Grotesk"/>
              </a:rPr>
              <a:t>COMMERCE ·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4652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 i="0" spc="200">
                <a:solidFill>
                  <a:srgbClr val="94A3B8"/>
                </a:solidFill>
                <a:latin typeface="Space Grotesk"/>
              </a:rPr>
              <a:t>12 / 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50292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 spc="350">
                <a:solidFill>
                  <a:srgbClr val="00F2FF"/>
                </a:solidFill>
                <a:latin typeface="Space Grotesk"/>
              </a:rPr>
              <a:t>11 · ГЛАВНАЯ МЕТРИКА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868680"/>
            <a:ext cx="1051560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600" b="0" i="0">
                <a:solidFill>
                  <a:srgbClr val="FFFFFF"/>
                </a:solidFill>
                <a:latin typeface="Space Grotesk"/>
              </a:rPr>
              <a:t>Вовлечённость, которой нет нигде.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926080"/>
            <a:ext cx="5029200" cy="2468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0" b="0" i="0">
                <a:solidFill>
                  <a:srgbClr val="6B7280"/>
                </a:solidFill>
                <a:latin typeface="Space Grotesk"/>
              </a:rPr>
              <a:t>2–3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5486400"/>
            <a:ext cx="5029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0000"/>
              </a:lnSpc>
            </a:pPr>
            <a:r>
              <a:rPr sz="1100" b="0" i="0" spc="350">
                <a:solidFill>
                  <a:srgbClr val="6B7280"/>
                </a:solidFill>
                <a:latin typeface="Space Grotesk"/>
              </a:rPr>
              <a:t>МИНУТЫ</a:t>
            </a:r>
          </a:p>
          <a:p>
            <a:pPr algn="ctr">
              <a:lnSpc>
                <a:spcPct val="140000"/>
              </a:lnSpc>
            </a:pPr>
            <a:r>
              <a:rPr sz="1100" b="0" i="0" spc="350">
                <a:solidFill>
                  <a:srgbClr val="6B7280"/>
                </a:solidFill>
                <a:latin typeface="Space Grotesk"/>
              </a:rPr>
              <a:t>ИНТЕРНЕТ-МАГАЗИН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989320" y="3200400"/>
            <a:ext cx="0" cy="2286000"/>
          </a:xfrm>
          <a:prstGeom prst="line">
            <a:avLst/>
          </a:prstGeom>
          <a:ln w="6350">
            <a:solidFill>
              <a:srgbClr val="94A3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Oval 12"/>
          <p:cNvSpPr/>
          <p:nvPr/>
        </p:nvSpPr>
        <p:spPr>
          <a:xfrm>
            <a:off x="5897880" y="4206240"/>
            <a:ext cx="182880" cy="182880"/>
          </a:xfrm>
          <a:prstGeom prst="ellipse">
            <a:avLst/>
          </a:prstGeom>
          <a:solidFill>
            <a:srgbClr val="00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00800" y="3017520"/>
            <a:ext cx="5486400" cy="2743200"/>
          </a:xfrm>
          <a:prstGeom prst="ellipse">
            <a:avLst/>
          </a:prstGeom>
          <a:solidFill>
            <a:srgbClr val="00F2FF">
              <a:alpha val="1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0" y="2926080"/>
            <a:ext cx="5303520" cy="2468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0" b="0" i="0">
                <a:solidFill>
                  <a:srgbClr val="00F2FF"/>
                </a:solidFill>
                <a:latin typeface="Space Grotesk"/>
              </a:rPr>
              <a:t>20–40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5486400"/>
            <a:ext cx="5303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0000"/>
              </a:lnSpc>
            </a:pPr>
            <a:r>
              <a:rPr sz="1100" b="0" i="0" spc="350">
                <a:solidFill>
                  <a:srgbClr val="00F2FF"/>
                </a:solidFill>
                <a:latin typeface="Space Grotesk"/>
              </a:rPr>
              <a:t>МИНУТ</a:t>
            </a:r>
          </a:p>
          <a:p>
            <a:pPr algn="ctr">
              <a:lnSpc>
                <a:spcPct val="140000"/>
              </a:lnSpc>
            </a:pPr>
            <a:r>
              <a:rPr sz="1100" b="0" i="0" spc="350">
                <a:solidFill>
                  <a:srgbClr val="00F2FF"/>
                </a:solidFill>
                <a:latin typeface="Space Grotesk"/>
              </a:rPr>
              <a:t>МЕТАВСЕЛЕННАЯ БРЕНДА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640080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0" i="0">
                <a:solidFill>
                  <a:srgbClr val="94A3B8"/>
                </a:solidFill>
                <a:latin typeface="Inter"/>
              </a:rPr>
              <a:t>Множитель </a:t>
            </a:r>
            <a:r>
              <a:rPr sz="1100" b="1" i="0">
                <a:solidFill>
                  <a:srgbClr val="00F2FF"/>
                </a:solidFill>
                <a:latin typeface="Inter"/>
              </a:rPr>
              <a:t>×10–13</a:t>
            </a:r>
            <a:r>
              <a:rPr sz="1100" b="0" i="0">
                <a:solidFill>
                  <a:srgbClr val="94A3B8"/>
                </a:solidFill>
                <a:latin typeface="Inter"/>
              </a:rPr>
              <a:t> ко времени контакта с брендом · источник эффекта — </a:t>
            </a:r>
            <a:r>
              <a:rPr sz="1100" b="1" i="0">
                <a:solidFill>
                  <a:srgbClr val="FFFFFF"/>
                </a:solidFill>
                <a:latin typeface="Inter"/>
              </a:rPr>
              <a:t>геймификация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B1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2743200" y="-2743200"/>
            <a:ext cx="7315200" cy="7315200"/>
          </a:xfrm>
          <a:prstGeom prst="ellipse">
            <a:avLst/>
          </a:prstGeom>
          <a:solidFill>
            <a:srgbClr val="00F2FF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315200" y="3657600"/>
            <a:ext cx="7315200" cy="7315200"/>
          </a:xfrm>
          <a:prstGeom prst="ellipse">
            <a:avLst/>
          </a:prstGeom>
          <a:solidFill>
            <a:srgbClr val="9D4EDD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20000"/>
          </a:xfrm>
          <a:prstGeom prst="rect">
            <a:avLst/>
          </a:prstGeom>
          <a:solidFill>
            <a:srgbClr val="1F26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0566135" cy="20000"/>
          </a:xfrm>
          <a:prstGeom prst="rect">
            <a:avLst/>
          </a:prstGeom>
          <a:solidFill>
            <a:srgbClr val="00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8288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0" i="0">
                <a:solidFill>
                  <a:srgbClr val="00F2FF"/>
                </a:solidFill>
                <a:latin typeface="Space Grotesk"/>
              </a:rPr>
              <a:t>V·</a:t>
            </a:r>
            <a:r>
              <a:rPr sz="800" b="0" i="0">
                <a:solidFill>
                  <a:srgbClr val="94A3B8"/>
                </a:solidFill>
                <a:latin typeface="Space Grotesk"/>
              </a:rPr>
              <a:t>COMMERCE ·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4652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 i="0" spc="200">
                <a:solidFill>
                  <a:srgbClr val="94A3B8"/>
                </a:solidFill>
                <a:latin typeface="Space Grotesk"/>
              </a:rPr>
              <a:t>13 / 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50292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 spc="350">
                <a:solidFill>
                  <a:srgbClr val="00F2FF"/>
                </a:solidFill>
                <a:latin typeface="Space Grotesk"/>
              </a:rPr>
              <a:t>12 · БИЗНЕС-ЭФФЕКТЫ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868680"/>
            <a:ext cx="1051560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400" b="0" i="0">
                <a:solidFill>
                  <a:srgbClr val="FFFFFF"/>
                </a:solidFill>
                <a:latin typeface="Space Grotesk"/>
              </a:rPr>
              <a:t>Три эффекта,</a:t>
            </a:r>
          </a:p>
          <a:p>
            <a:pPr algn="l">
              <a:lnSpc>
                <a:spcPct val="105000"/>
              </a:lnSpc>
            </a:pPr>
            <a:r>
              <a:rPr sz="3400" b="0" i="0">
                <a:solidFill>
                  <a:srgbClr val="FFFFFF"/>
                </a:solidFill>
                <a:latin typeface="Space Grotesk"/>
              </a:rPr>
              <a:t>ради которых бренды инвестируют.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2926080"/>
            <a:ext cx="3520440" cy="3474720"/>
          </a:xfrm>
          <a:prstGeom prst="roundRect">
            <a:avLst>
              <a:gd name="adj" fmla="val 6000"/>
            </a:avLst>
          </a:prstGeom>
          <a:solidFill>
            <a:srgbClr val="101622"/>
          </a:solidFill>
          <a:ln w="6350">
            <a:solidFill>
              <a:srgbClr val="00F2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88720" y="3200400"/>
            <a:ext cx="1828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3200" b="0" i="0">
                <a:solidFill>
                  <a:srgbClr val="00F2FF"/>
                </a:solidFill>
                <a:latin typeface="Space Grotesk"/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" y="3886200"/>
            <a:ext cx="29260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700" b="0" i="0">
                <a:solidFill>
                  <a:srgbClr val="FFFFFF"/>
                </a:solidFill>
                <a:latin typeface="Space Grotesk"/>
              </a:rPr>
              <a:t>Вовлечённость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188720" y="4682000"/>
            <a:ext cx="109728" cy="15000"/>
          </a:xfrm>
          <a:prstGeom prst="rect">
            <a:avLst/>
          </a:prstGeom>
          <a:solidFill>
            <a:srgbClr val="00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71600" y="4572000"/>
            <a:ext cx="27889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E2E8F0"/>
                </a:solidFill>
                <a:latin typeface="Inter"/>
              </a:rPr>
              <a:t>20–40 минут вместо 2–3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188720" y="5184920"/>
            <a:ext cx="109728" cy="15000"/>
          </a:xfrm>
          <a:prstGeom prst="rect">
            <a:avLst/>
          </a:prstGeom>
          <a:solidFill>
            <a:srgbClr val="00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371600" y="5074920"/>
            <a:ext cx="27889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E2E8F0"/>
                </a:solidFill>
                <a:latin typeface="Inter"/>
              </a:rPr>
              <a:t>Эффект </a:t>
            </a:r>
            <a:r>
              <a:rPr sz="1100" b="1" i="0">
                <a:solidFill>
                  <a:srgbClr val="FFFFFF"/>
                </a:solidFill>
                <a:latin typeface="Inter"/>
              </a:rPr>
              <a:t>геймификации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188720" y="5687840"/>
            <a:ext cx="109728" cy="15000"/>
          </a:xfrm>
          <a:prstGeom prst="rect">
            <a:avLst/>
          </a:prstGeom>
          <a:solidFill>
            <a:srgbClr val="00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71600" y="5577840"/>
            <a:ext cx="27889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E2E8F0"/>
                </a:solidFill>
                <a:latin typeface="Inter"/>
              </a:rPr>
              <a:t>До ×13 ко времени сессии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26280" y="2926080"/>
            <a:ext cx="3520440" cy="3474720"/>
          </a:xfrm>
          <a:prstGeom prst="roundRect">
            <a:avLst>
              <a:gd name="adj" fmla="val 6000"/>
            </a:avLst>
          </a:prstGeom>
          <a:solidFill>
            <a:srgbClr val="101622"/>
          </a:solidFill>
          <a:ln w="6350">
            <a:solidFill>
              <a:srgbClr val="00F2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892040" y="3200400"/>
            <a:ext cx="1828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3200" b="0" i="0">
                <a:solidFill>
                  <a:srgbClr val="00F2FF"/>
                </a:solidFill>
                <a:latin typeface="Space Grotesk"/>
              </a:rPr>
              <a:t>02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892040" y="3886200"/>
            <a:ext cx="29260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700" b="0" i="0">
                <a:solidFill>
                  <a:srgbClr val="FFFFFF"/>
                </a:solidFill>
                <a:latin typeface="Space Grotesk"/>
              </a:rPr>
              <a:t>Тестирование без рисков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892040" y="4682000"/>
            <a:ext cx="109728" cy="15000"/>
          </a:xfrm>
          <a:prstGeom prst="rect">
            <a:avLst/>
          </a:prstGeom>
          <a:solidFill>
            <a:srgbClr val="00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74920" y="4572000"/>
            <a:ext cx="27889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E2E8F0"/>
                </a:solidFill>
                <a:latin typeface="Inter"/>
              </a:rPr>
              <a:t>Не нужно отшивать тестовую коллекцию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892040" y="5184920"/>
            <a:ext cx="109728" cy="15000"/>
          </a:xfrm>
          <a:prstGeom prst="rect">
            <a:avLst/>
          </a:prstGeom>
          <a:solidFill>
            <a:srgbClr val="00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074920" y="5074920"/>
            <a:ext cx="27889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E2E8F0"/>
                </a:solidFill>
                <a:latin typeface="Inter"/>
              </a:rPr>
              <a:t>Не нужно выпускать концепт-кар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892040" y="5687840"/>
            <a:ext cx="109728" cy="15000"/>
          </a:xfrm>
          <a:prstGeom prst="rect">
            <a:avLst/>
          </a:prstGeom>
          <a:solidFill>
            <a:srgbClr val="00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074920" y="5577840"/>
            <a:ext cx="27889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E2E8F0"/>
                </a:solidFill>
                <a:latin typeface="Inter"/>
              </a:rPr>
              <a:t>Цифровой аналог → фидбэк → производство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229600" y="2926080"/>
            <a:ext cx="3520440" cy="3474720"/>
          </a:xfrm>
          <a:prstGeom prst="roundRect">
            <a:avLst>
              <a:gd name="adj" fmla="val 6000"/>
            </a:avLst>
          </a:prstGeom>
          <a:solidFill>
            <a:srgbClr val="101622"/>
          </a:solidFill>
          <a:ln w="6350">
            <a:solidFill>
              <a:srgbClr val="00F2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595360" y="3200400"/>
            <a:ext cx="1828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3200" b="0" i="0">
                <a:solidFill>
                  <a:srgbClr val="00F2FF"/>
                </a:solidFill>
                <a:latin typeface="Space Grotesk"/>
              </a:rPr>
              <a:t>03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595360" y="3886200"/>
            <a:ext cx="29260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700" b="0" i="0">
                <a:solidFill>
                  <a:srgbClr val="FFFFFF"/>
                </a:solidFill>
                <a:latin typeface="Space Grotesk"/>
              </a:rPr>
              <a:t>Глобальный охват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595360" y="4682000"/>
            <a:ext cx="109728" cy="15000"/>
          </a:xfrm>
          <a:prstGeom prst="rect">
            <a:avLst/>
          </a:prstGeom>
          <a:solidFill>
            <a:srgbClr val="00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778240" y="4572000"/>
            <a:ext cx="27889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E2E8F0"/>
                </a:solidFill>
                <a:latin typeface="Inter"/>
              </a:rPr>
              <a:t>Виртуальный флагман доступен 24/7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595360" y="5184920"/>
            <a:ext cx="109728" cy="15000"/>
          </a:xfrm>
          <a:prstGeom prst="rect">
            <a:avLst/>
          </a:prstGeom>
          <a:solidFill>
            <a:srgbClr val="00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778240" y="5074920"/>
            <a:ext cx="27889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E2E8F0"/>
                </a:solidFill>
                <a:latin typeface="Inter"/>
              </a:rPr>
              <a:t>Из любой точки планеты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595360" y="5687840"/>
            <a:ext cx="109728" cy="15000"/>
          </a:xfrm>
          <a:prstGeom prst="rect">
            <a:avLst/>
          </a:prstGeom>
          <a:solidFill>
            <a:srgbClr val="00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778240" y="5577840"/>
            <a:ext cx="27889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E2E8F0"/>
                </a:solidFill>
                <a:latin typeface="Inter"/>
              </a:rPr>
              <a:t>Без аренды и зарплат продавцам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B1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2743200" y="-2743200"/>
            <a:ext cx="7315200" cy="7315200"/>
          </a:xfrm>
          <a:prstGeom prst="ellipse">
            <a:avLst/>
          </a:prstGeom>
          <a:solidFill>
            <a:srgbClr val="00F2FF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315200" y="3657600"/>
            <a:ext cx="7315200" cy="7315200"/>
          </a:xfrm>
          <a:prstGeom prst="ellipse">
            <a:avLst/>
          </a:prstGeom>
          <a:solidFill>
            <a:srgbClr val="9D4EDD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20000"/>
          </a:xfrm>
          <a:prstGeom prst="rect">
            <a:avLst/>
          </a:prstGeom>
          <a:solidFill>
            <a:srgbClr val="1F26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1378915" cy="20000"/>
          </a:xfrm>
          <a:prstGeom prst="rect">
            <a:avLst/>
          </a:prstGeom>
          <a:solidFill>
            <a:srgbClr val="00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8288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0" i="0">
                <a:solidFill>
                  <a:srgbClr val="00F2FF"/>
                </a:solidFill>
                <a:latin typeface="Space Grotesk"/>
              </a:rPr>
              <a:t>V·</a:t>
            </a:r>
            <a:r>
              <a:rPr sz="800" b="0" i="0">
                <a:solidFill>
                  <a:srgbClr val="94A3B8"/>
                </a:solidFill>
                <a:latin typeface="Space Grotesk"/>
              </a:rPr>
              <a:t>COMMERCE ·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4652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 i="0" spc="200">
                <a:solidFill>
                  <a:srgbClr val="94A3B8"/>
                </a:solidFill>
                <a:latin typeface="Space Grotesk"/>
              </a:rPr>
              <a:t>14 / 15</a:t>
            </a:r>
          </a:p>
        </p:txBody>
      </p:sp>
      <p:sp>
        <p:nvSpPr>
          <p:cNvPr id="8" name="Oval 7"/>
          <p:cNvSpPr/>
          <p:nvPr/>
        </p:nvSpPr>
        <p:spPr>
          <a:xfrm>
            <a:off x="-2743200" y="1828800"/>
            <a:ext cx="9144000" cy="5486400"/>
          </a:xfrm>
          <a:prstGeom prst="ellipse">
            <a:avLst/>
          </a:prstGeom>
          <a:solidFill>
            <a:srgbClr val="00F2FF">
              <a:alpha val="1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5486400" y="1828800"/>
            <a:ext cx="9144000" cy="5486400"/>
          </a:xfrm>
          <a:prstGeom prst="ellipse">
            <a:avLst/>
          </a:prstGeom>
          <a:solidFill>
            <a:srgbClr val="9D4EDD">
              <a:alpha val="1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50292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 spc="400">
                <a:solidFill>
                  <a:srgbClr val="00F2FF"/>
                </a:solidFill>
                <a:latin typeface="Space Grotesk"/>
              </a:rPr>
              <a:t>13 · ВЫВОД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1554480"/>
            <a:ext cx="1124712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6400" b="0" i="0">
                <a:solidFill>
                  <a:srgbClr val="FFFFFF"/>
                </a:solidFill>
                <a:latin typeface="Space Grotesk"/>
              </a:rPr>
              <a:t>Хайп прошёл.</a:t>
            </a:r>
          </a:p>
          <a:p>
            <a:pPr algn="ctr">
              <a:lnSpc>
                <a:spcPct val="105000"/>
              </a:lnSpc>
            </a:pPr>
            <a:r>
              <a:rPr sz="6400" b="0" i="0">
                <a:solidFill>
                  <a:srgbClr val="FFFFFF"/>
                </a:solidFill>
                <a:latin typeface="Space Grotesk"/>
              </a:rPr>
              <a:t>Бизнес — остался.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00400" y="4326240"/>
            <a:ext cx="109728" cy="15000"/>
          </a:xfrm>
          <a:prstGeom prst="rect">
            <a:avLst/>
          </a:prstGeom>
          <a:solidFill>
            <a:srgbClr val="00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29000" y="4206240"/>
            <a:ext cx="7772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E2E8F0"/>
                </a:solidFill>
                <a:latin typeface="Inter"/>
              </a:rPr>
              <a:t>Продажи в метавселенных — </a:t>
            </a:r>
            <a:r>
              <a:rPr sz="1400" b="1" i="0">
                <a:solidFill>
                  <a:srgbClr val="FFFFFF"/>
                </a:solidFill>
                <a:latin typeface="Inter"/>
              </a:rPr>
              <a:t>не краткосрочный хайп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00400" y="4829159"/>
            <a:ext cx="109728" cy="15000"/>
          </a:xfrm>
          <a:prstGeom prst="rect">
            <a:avLst/>
          </a:prstGeom>
          <a:solidFill>
            <a:srgbClr val="00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429000" y="4709159"/>
            <a:ext cx="7772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E2E8F0"/>
                </a:solidFill>
                <a:latin typeface="Inter"/>
              </a:rPr>
              <a:t>Провал Meta 2022 года </a:t>
            </a:r>
            <a:r>
              <a:rPr sz="1400" b="1" i="0">
                <a:solidFill>
                  <a:srgbClr val="FFFFFF"/>
                </a:solidFill>
                <a:latin typeface="Inter"/>
              </a:rPr>
              <a:t>отсеял нежизнеспособные концепты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00400" y="5332079"/>
            <a:ext cx="109728" cy="15000"/>
          </a:xfrm>
          <a:prstGeom prst="rect">
            <a:avLst/>
          </a:prstGeom>
          <a:solidFill>
            <a:srgbClr val="00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429000" y="5212079"/>
            <a:ext cx="7772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E2E8F0"/>
                </a:solidFill>
                <a:latin typeface="Inter"/>
              </a:rPr>
              <a:t>Побеждают те, кто создаёт </a:t>
            </a:r>
            <a:r>
              <a:rPr sz="1400" b="1" i="0">
                <a:solidFill>
                  <a:srgbClr val="00F2FF"/>
                </a:solidFill>
                <a:latin typeface="Inter"/>
              </a:rPr>
              <a:t>полезный, увлекательный и коммерчески продуманный опыт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00400" y="5835000"/>
            <a:ext cx="109728" cy="15000"/>
          </a:xfrm>
          <a:prstGeom prst="rect">
            <a:avLst/>
          </a:prstGeom>
          <a:solidFill>
            <a:srgbClr val="00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429000" y="5715000"/>
            <a:ext cx="7772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E2E8F0"/>
                </a:solidFill>
                <a:latin typeface="Inter"/>
              </a:rPr>
              <a:t>Виртуальное присутствие → </a:t>
            </a:r>
            <a:r>
              <a:rPr sz="1400" b="1" i="0">
                <a:solidFill>
                  <a:srgbClr val="00F2FF"/>
                </a:solidFill>
                <a:latin typeface="Inter"/>
              </a:rPr>
              <a:t>реальная прибыль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515600" y="644652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 i="0" spc="200">
                <a:solidFill>
                  <a:srgbClr val="94A3B8"/>
                </a:solidFill>
                <a:latin typeface="Space Grotesk"/>
              </a:rPr>
              <a:t>14 / 15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B1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2743200" y="-2743200"/>
            <a:ext cx="7315200" cy="7315200"/>
          </a:xfrm>
          <a:prstGeom prst="ellipse">
            <a:avLst/>
          </a:prstGeom>
          <a:solidFill>
            <a:srgbClr val="00F2FF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315200" y="3657600"/>
            <a:ext cx="7315200" cy="7315200"/>
          </a:xfrm>
          <a:prstGeom prst="ellipse">
            <a:avLst/>
          </a:prstGeom>
          <a:solidFill>
            <a:srgbClr val="9D4EDD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20000"/>
          </a:xfrm>
          <a:prstGeom prst="rect">
            <a:avLst/>
          </a:prstGeom>
          <a:solidFill>
            <a:srgbClr val="1F26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20000"/>
          </a:xfrm>
          <a:prstGeom prst="rect">
            <a:avLst/>
          </a:prstGeom>
          <a:solidFill>
            <a:srgbClr val="00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8288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0" i="0">
                <a:solidFill>
                  <a:srgbClr val="00F2FF"/>
                </a:solidFill>
                <a:latin typeface="Space Grotesk"/>
              </a:rPr>
              <a:t>V·</a:t>
            </a:r>
            <a:r>
              <a:rPr sz="800" b="0" i="0">
                <a:solidFill>
                  <a:srgbClr val="94A3B8"/>
                </a:solidFill>
                <a:latin typeface="Space Grotesk"/>
              </a:rPr>
              <a:t>COMMERCE ·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4652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 i="0" spc="200">
                <a:solidFill>
                  <a:srgbClr val="94A3B8"/>
                </a:solidFill>
                <a:latin typeface="Space Grotesk"/>
              </a:rPr>
              <a:t>15 / 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50292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 spc="350">
                <a:solidFill>
                  <a:srgbClr val="00F2FF"/>
                </a:solidFill>
                <a:latin typeface="Space Grotesk"/>
              </a:rPr>
              <a:t>14 · ИСТОЧНИКИ И АНАЛИТИКА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868680"/>
            <a:ext cx="1051560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600" b="0" i="0">
                <a:solidFill>
                  <a:srgbClr val="FFFFFF"/>
                </a:solidFill>
                <a:latin typeface="Space Grotesk"/>
              </a:rPr>
              <a:t>Источники и аналитика.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2651760"/>
            <a:ext cx="10515600" cy="1097280"/>
          </a:xfrm>
          <a:prstGeom prst="roundRect">
            <a:avLst>
              <a:gd name="adj" fmla="val 6000"/>
            </a:avLst>
          </a:prstGeom>
          <a:solidFill>
            <a:srgbClr val="101622"/>
          </a:solidFill>
          <a:ln w="6350">
            <a:solidFill>
              <a:srgbClr val="00F2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2880360"/>
            <a:ext cx="9144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400" b="0" i="0">
                <a:solidFill>
                  <a:srgbClr val="00F2FF"/>
                </a:solidFill>
                <a:latin typeface="Space Grotesk"/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03120" y="2834640"/>
            <a:ext cx="8961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 i="0">
                <a:solidFill>
                  <a:srgbClr val="FFFFFF"/>
                </a:solidFill>
                <a:latin typeface="Space Grotesk"/>
              </a:rPr>
              <a:t>InfoCity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103120" y="3154680"/>
            <a:ext cx="89611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94A3B8"/>
                </a:solidFill>
                <a:latin typeface="Inter"/>
              </a:rPr>
              <a:t>«10 главных метавселенных для игр, заработка и творчества»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103120" y="3429000"/>
            <a:ext cx="89611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 i="0">
                <a:solidFill>
                  <a:srgbClr val="00F2FF"/>
                </a:solidFill>
                <a:latin typeface="Inter"/>
              </a:rPr>
              <a:t>infocity.tech/2024/05/10-glavnyh-metavselennyh-dlja-igr-zarabotka-i-tvorchestva/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" y="3886200"/>
            <a:ext cx="10515600" cy="1097280"/>
          </a:xfrm>
          <a:prstGeom prst="roundRect">
            <a:avLst>
              <a:gd name="adj" fmla="val 6000"/>
            </a:avLst>
          </a:prstGeom>
          <a:solidFill>
            <a:srgbClr val="101622"/>
          </a:solidFill>
          <a:ln w="6350">
            <a:solidFill>
              <a:srgbClr val="00F2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97280" y="4114800"/>
            <a:ext cx="9144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400" b="0" i="0">
                <a:solidFill>
                  <a:srgbClr val="00F2FF"/>
                </a:solidFill>
                <a:latin typeface="Space Grotesk"/>
              </a:rP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103120" y="4069080"/>
            <a:ext cx="8961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 i="0">
                <a:solidFill>
                  <a:srgbClr val="FFFFFF"/>
                </a:solidFill>
                <a:latin typeface="Space Grotesk"/>
              </a:rPr>
              <a:t>Отчёты платформ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103120" y="4389120"/>
            <a:ext cx="89611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94A3B8"/>
                </a:solidFill>
                <a:latin typeface="Inter"/>
              </a:rPr>
              <a:t>Roblox Investor Relations Data · Epic Games / Fortnite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03120" y="4663440"/>
            <a:ext cx="89611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 i="0">
                <a:solidFill>
                  <a:srgbClr val="00F2FF"/>
                </a:solidFill>
                <a:latin typeface="Inter"/>
              </a:rPr>
              <a:t>Бизнес-кейсы Nikeland и Gucci Town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22960" y="5120640"/>
            <a:ext cx="10515600" cy="1097280"/>
          </a:xfrm>
          <a:prstGeom prst="roundRect">
            <a:avLst>
              <a:gd name="adj" fmla="val 6000"/>
            </a:avLst>
          </a:prstGeom>
          <a:solidFill>
            <a:srgbClr val="101622"/>
          </a:solidFill>
          <a:ln w="6350">
            <a:solidFill>
              <a:srgbClr val="00F2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97280" y="5349240"/>
            <a:ext cx="9144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400" b="0" i="0">
                <a:solidFill>
                  <a:srgbClr val="00F2FF"/>
                </a:solidFill>
                <a:latin typeface="Space Grotesk"/>
              </a:rPr>
              <a:t>03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103120" y="5303520"/>
            <a:ext cx="8961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 i="0">
                <a:solidFill>
                  <a:srgbClr val="FFFFFF"/>
                </a:solidFill>
                <a:latin typeface="Space Grotesk"/>
              </a:rPr>
              <a:t>Финансовая отчётность Meta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03120" y="5623560"/>
            <a:ext cx="89611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94A3B8"/>
                </a:solidFill>
                <a:latin typeface="Inter"/>
              </a:rPr>
              <a:t>Meta Reports / Reality Labs Losses 2022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